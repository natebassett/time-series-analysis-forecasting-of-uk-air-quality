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embeddedFontLst>
    <p:embeddedFont>
      <p:font typeface="Inter SemiBold"/>
      <p:regular r:id="rId27"/>
      <p:bold r:id="rId28"/>
      <p:italic r:id="rId29"/>
      <p:boldItalic r:id="rId30"/>
    </p:embeddedFont>
    <p:embeddedFont>
      <p:font typeface="Montserrat"/>
      <p:regular r:id="rId31"/>
      <p:bold r:id="rId32"/>
      <p:italic r:id="rId33"/>
      <p:boldItalic r:id="rId34"/>
    </p:embeddedFont>
    <p:embeddedFont>
      <p:font typeface="Inter"/>
      <p:regular r:id="rId35"/>
      <p:bold r:id="rId36"/>
      <p:italic r:id="rId37"/>
      <p:boldItalic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4B5744-7F93-483D-B127-374285DE8091}">
  <a:tblStyle styleId="{094B5744-7F93-483D-B127-374285DE80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4.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nterSemiBold-bold.fntdata"/><Relationship Id="rId27" Type="http://schemas.openxmlformats.org/officeDocument/2006/relationships/font" Target="fonts/InterSemiBo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Semi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regular.fntdata"/><Relationship Id="rId30" Type="http://schemas.openxmlformats.org/officeDocument/2006/relationships/font" Target="fonts/InterSemiBold-boldItalic.fntdata"/><Relationship Id="rId11" Type="http://schemas.openxmlformats.org/officeDocument/2006/relationships/slide" Target="slides/slide5.xml"/><Relationship Id="rId33" Type="http://schemas.openxmlformats.org/officeDocument/2006/relationships/font" Target="fonts/Montserrat-italic.fntdata"/><Relationship Id="rId10" Type="http://schemas.openxmlformats.org/officeDocument/2006/relationships/slide" Target="slides/slide4.xml"/><Relationship Id="rId32" Type="http://schemas.openxmlformats.org/officeDocument/2006/relationships/font" Target="fonts/Montserrat-bold.fntdata"/><Relationship Id="rId13" Type="http://schemas.openxmlformats.org/officeDocument/2006/relationships/slide" Target="slides/slide7.xml"/><Relationship Id="rId35" Type="http://schemas.openxmlformats.org/officeDocument/2006/relationships/font" Target="fonts/Inter-regular.fntdata"/><Relationship Id="rId12" Type="http://schemas.openxmlformats.org/officeDocument/2006/relationships/slide" Target="slides/slide6.xml"/><Relationship Id="rId34" Type="http://schemas.openxmlformats.org/officeDocument/2006/relationships/font" Target="fonts/Montserrat-boldItalic.fntdata"/><Relationship Id="rId15" Type="http://schemas.openxmlformats.org/officeDocument/2006/relationships/slide" Target="slides/slide9.xml"/><Relationship Id="rId37" Type="http://schemas.openxmlformats.org/officeDocument/2006/relationships/font" Target="fonts/Inter-italic.fntdata"/><Relationship Id="rId14" Type="http://schemas.openxmlformats.org/officeDocument/2006/relationships/slide" Target="slides/slide8.xml"/><Relationship Id="rId36" Type="http://schemas.openxmlformats.org/officeDocument/2006/relationships/font" Target="fonts/Inter-bold.fntdata"/><Relationship Id="rId17" Type="http://schemas.openxmlformats.org/officeDocument/2006/relationships/slide" Target="slides/slide11.xml"/><Relationship Id="rId39" Type="http://schemas.openxmlformats.org/officeDocument/2006/relationships/font" Target="fonts/RobotoMono-regular.fntdata"/><Relationship Id="rId16" Type="http://schemas.openxmlformats.org/officeDocument/2006/relationships/slide" Target="slides/slide10.xml"/><Relationship Id="rId38" Type="http://schemas.openxmlformats.org/officeDocument/2006/relationships/font" Target="fonts/Inter-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bc4b85c9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bc4b85c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bbe90ee4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dbbe90ee44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bbffabcf9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dbbffabcf9_3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bd8e7d64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bd8e7d643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bbffabcf9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dbbffabcf9_3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bbe90ee4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dbbe90ee44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bd8e7d64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dbd8e7d643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bbffabcf9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3dbbffabcf9_3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dbd8e7d64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3dbd8e7d643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2.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3435667" y="2709862"/>
            <a:ext cx="5320665" cy="742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064E3B"/>
                </a:solidFill>
                <a:latin typeface="Montserrat"/>
                <a:ea typeface="Montserrat"/>
                <a:cs typeface="Montserrat"/>
                <a:sym typeface="Montserrat"/>
              </a:rPr>
              <a:t>Time Series Analysis &amp;</a:t>
            </a:r>
            <a:br>
              <a:rPr b="0" i="0" lang="en-US" sz="1800" u="none" cap="none" strike="noStrike">
                <a:solidFill>
                  <a:schemeClr val="dk1"/>
                </a:solidFill>
                <a:latin typeface="Calibri"/>
                <a:ea typeface="Calibri"/>
                <a:cs typeface="Calibri"/>
                <a:sym typeface="Calibri"/>
              </a:rPr>
            </a:br>
            <a:r>
              <a:rPr b="1" i="0" lang="en-US" sz="2400" u="none" cap="none" strike="noStrike">
                <a:solidFill>
                  <a:srgbClr val="064E3B"/>
                </a:solidFill>
                <a:latin typeface="Montserrat"/>
                <a:ea typeface="Montserrat"/>
                <a:cs typeface="Montserrat"/>
                <a:sym typeface="Montserrat"/>
              </a:rPr>
              <a:t> Forecasting of UK Air Quality</a:t>
            </a:r>
            <a:endParaRPr/>
          </a:p>
        </p:txBody>
      </p:sp>
      <p:sp>
        <p:nvSpPr>
          <p:cNvPr id="86" name="Google Shape;86;p13"/>
          <p:cNvSpPr txBox="1"/>
          <p:nvPr/>
        </p:nvSpPr>
        <p:spPr>
          <a:xfrm>
            <a:off x="3562350" y="3643312"/>
            <a:ext cx="506730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475569"/>
                </a:solidFill>
                <a:latin typeface="Inter"/>
                <a:ea typeface="Inter"/>
                <a:cs typeface="Inter"/>
                <a:sym typeface="Inter"/>
              </a:rPr>
              <a:t>Solving Environmental Problems with R &amp; Shiny</a:t>
            </a:r>
            <a:endParaRPr/>
          </a:p>
        </p:txBody>
      </p:sp>
      <p:sp>
        <p:nvSpPr>
          <p:cNvPr id="87" name="Google Shape;87;p13"/>
          <p:cNvSpPr txBox="1"/>
          <p:nvPr/>
        </p:nvSpPr>
        <p:spPr>
          <a:xfrm>
            <a:off x="3562350" y="4300537"/>
            <a:ext cx="50673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64748B"/>
                </a:solidFill>
                <a:latin typeface="Inter SemiBold"/>
                <a:ea typeface="Inter SemiBold"/>
                <a:cs typeface="Inter SemiBold"/>
                <a:sym typeface="Inter SemiBold"/>
              </a:rPr>
              <a:t>Nathaniel Bassett &amp; </a:t>
            </a:r>
            <a:r>
              <a:rPr lang="en-US" sz="1200">
                <a:solidFill>
                  <a:srgbClr val="64748B"/>
                </a:solidFill>
                <a:latin typeface="Inter SemiBold"/>
                <a:ea typeface="Inter SemiBold"/>
                <a:cs typeface="Inter SemiBold"/>
                <a:sym typeface="Inter SemiBold"/>
              </a:rPr>
              <a:t>Malachi Chambers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 name="Google Shape;93;p14"/>
          <p:cNvSpPr txBox="1"/>
          <p:nvPr/>
        </p:nvSpPr>
        <p:spPr>
          <a:xfrm>
            <a:off x="819150" y="3109912"/>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94" name="Google Shape;94;p14"/>
          <p:cNvSpPr txBox="1"/>
          <p:nvPr/>
        </p:nvSpPr>
        <p:spPr>
          <a:xfrm>
            <a:off x="952500" y="3133725"/>
            <a:ext cx="4905300" cy="277200"/>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i="0" lang="en-US" sz="1800" u="none" cap="none" strike="noStrike">
                <a:solidFill>
                  <a:srgbClr val="000000"/>
                </a:solidFill>
                <a:latin typeface="Inter"/>
                <a:ea typeface="Inter"/>
                <a:cs typeface="Inter"/>
                <a:sym typeface="Inter"/>
              </a:rPr>
              <a:t>1. </a:t>
            </a:r>
            <a:r>
              <a:rPr b="1" i="0" lang="en-US" sz="1800" u="none" cap="none" strike="noStrike">
                <a:solidFill>
                  <a:srgbClr val="000000"/>
                </a:solidFill>
                <a:latin typeface="Inter"/>
                <a:ea typeface="Inter"/>
                <a:cs typeface="Inter"/>
                <a:sym typeface="Inter"/>
              </a:rPr>
              <a:t>Problem Identification</a:t>
            </a:r>
            <a:endParaRPr/>
          </a:p>
        </p:txBody>
      </p:sp>
      <p:sp>
        <p:nvSpPr>
          <p:cNvPr id="95" name="Google Shape;95;p14"/>
          <p:cNvSpPr txBox="1"/>
          <p:nvPr/>
        </p:nvSpPr>
        <p:spPr>
          <a:xfrm>
            <a:off x="819150" y="3481387"/>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96" name="Google Shape;96;p14"/>
          <p:cNvSpPr txBox="1"/>
          <p:nvPr/>
        </p:nvSpPr>
        <p:spPr>
          <a:xfrm>
            <a:off x="952500" y="3505200"/>
            <a:ext cx="4905300" cy="277200"/>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lang="en-US" sz="1800">
                <a:latin typeface="Inter"/>
                <a:ea typeface="Inter"/>
                <a:cs typeface="Inter"/>
                <a:sym typeface="Inter"/>
              </a:rPr>
              <a:t>2.</a:t>
            </a:r>
            <a:r>
              <a:rPr b="1" i="0" lang="en-US" sz="1800" u="none" cap="none" strike="noStrike">
                <a:solidFill>
                  <a:srgbClr val="000000"/>
                </a:solidFill>
                <a:latin typeface="Inter"/>
                <a:ea typeface="Inter"/>
                <a:cs typeface="Inter"/>
                <a:sym typeface="Inter"/>
              </a:rPr>
              <a:t>The Dataset (DEFRA AURN)</a:t>
            </a:r>
            <a:endParaRPr/>
          </a:p>
        </p:txBody>
      </p:sp>
      <p:sp>
        <p:nvSpPr>
          <p:cNvPr id="97" name="Google Shape;97;p14"/>
          <p:cNvSpPr txBox="1"/>
          <p:nvPr/>
        </p:nvSpPr>
        <p:spPr>
          <a:xfrm>
            <a:off x="819150" y="3852862"/>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98" name="Google Shape;98;p14"/>
          <p:cNvSpPr txBox="1"/>
          <p:nvPr/>
        </p:nvSpPr>
        <p:spPr>
          <a:xfrm>
            <a:off x="952500" y="3876675"/>
            <a:ext cx="4905375" cy="276225"/>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i="0" lang="en-US" sz="1800" u="none" cap="none" strike="noStrike">
                <a:solidFill>
                  <a:srgbClr val="000000"/>
                </a:solidFill>
                <a:latin typeface="Inter"/>
                <a:ea typeface="Inter"/>
                <a:cs typeface="Inter"/>
                <a:sym typeface="Inter"/>
              </a:rPr>
              <a:t>3. Package Choice: </a:t>
            </a:r>
            <a:r>
              <a:rPr b="1" i="1" lang="en-US" sz="1800" u="none" cap="none" strike="noStrike">
                <a:solidFill>
                  <a:srgbClr val="000000"/>
                </a:solidFill>
                <a:latin typeface="Inter"/>
                <a:ea typeface="Inter"/>
                <a:cs typeface="Inter"/>
                <a:sym typeface="Inter"/>
              </a:rPr>
              <a:t>forecast</a:t>
            </a:r>
            <a:endParaRPr/>
          </a:p>
        </p:txBody>
      </p:sp>
      <p:sp>
        <p:nvSpPr>
          <p:cNvPr id="99" name="Google Shape;99;p14"/>
          <p:cNvSpPr txBox="1"/>
          <p:nvPr/>
        </p:nvSpPr>
        <p:spPr>
          <a:xfrm>
            <a:off x="819150" y="4224337"/>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100" name="Google Shape;100;p14"/>
          <p:cNvSpPr txBox="1"/>
          <p:nvPr/>
        </p:nvSpPr>
        <p:spPr>
          <a:xfrm>
            <a:off x="952500" y="4248150"/>
            <a:ext cx="4905375" cy="276225"/>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i="0" lang="en-US" sz="1800" u="none" cap="none" strike="noStrike">
                <a:solidFill>
                  <a:srgbClr val="000000"/>
                </a:solidFill>
                <a:latin typeface="Inter"/>
                <a:ea typeface="Inter"/>
                <a:cs typeface="Inter"/>
                <a:sym typeface="Inter"/>
              </a:rPr>
              <a:t>4. Technical Implementation</a:t>
            </a:r>
            <a:endParaRPr/>
          </a:p>
        </p:txBody>
      </p:sp>
      <p:sp>
        <p:nvSpPr>
          <p:cNvPr id="101" name="Google Shape;101;p14"/>
          <p:cNvSpPr txBox="1"/>
          <p:nvPr/>
        </p:nvSpPr>
        <p:spPr>
          <a:xfrm>
            <a:off x="6581775" y="3109912"/>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102" name="Google Shape;102;p14"/>
          <p:cNvSpPr txBox="1"/>
          <p:nvPr/>
        </p:nvSpPr>
        <p:spPr>
          <a:xfrm>
            <a:off x="6715125" y="3133725"/>
            <a:ext cx="4905375" cy="276225"/>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i="0" lang="en-US" sz="1800" u="none" cap="none" strike="noStrike">
                <a:solidFill>
                  <a:srgbClr val="000000"/>
                </a:solidFill>
                <a:latin typeface="Inter"/>
                <a:ea typeface="Inter"/>
                <a:cs typeface="Inter"/>
                <a:sym typeface="Inter"/>
              </a:rPr>
              <a:t>5. Shiny App Architecture</a:t>
            </a:r>
            <a:endParaRPr/>
          </a:p>
        </p:txBody>
      </p:sp>
      <p:sp>
        <p:nvSpPr>
          <p:cNvPr id="103" name="Google Shape;103;p14"/>
          <p:cNvSpPr txBox="1"/>
          <p:nvPr/>
        </p:nvSpPr>
        <p:spPr>
          <a:xfrm>
            <a:off x="6581775" y="3481387"/>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104" name="Google Shape;104;p14"/>
          <p:cNvSpPr txBox="1"/>
          <p:nvPr/>
        </p:nvSpPr>
        <p:spPr>
          <a:xfrm>
            <a:off x="6715125" y="3505200"/>
            <a:ext cx="4905375" cy="276225"/>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i="0" lang="en-US" sz="1800" u="none" cap="none" strike="noStrike">
                <a:solidFill>
                  <a:srgbClr val="000000"/>
                </a:solidFill>
                <a:latin typeface="Inter"/>
                <a:ea typeface="Inter"/>
                <a:cs typeface="Inter"/>
                <a:sym typeface="Inter"/>
              </a:rPr>
              <a:t>6. Results &amp; Visualization</a:t>
            </a:r>
            <a:endParaRPr/>
          </a:p>
        </p:txBody>
      </p:sp>
      <p:sp>
        <p:nvSpPr>
          <p:cNvPr id="105" name="Google Shape;105;p14"/>
          <p:cNvSpPr txBox="1"/>
          <p:nvPr/>
        </p:nvSpPr>
        <p:spPr>
          <a:xfrm>
            <a:off x="6581775" y="3852862"/>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106" name="Google Shape;106;p14"/>
          <p:cNvSpPr txBox="1"/>
          <p:nvPr/>
        </p:nvSpPr>
        <p:spPr>
          <a:xfrm>
            <a:off x="6715125" y="3876675"/>
            <a:ext cx="4905375" cy="276225"/>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i="0" lang="en-US" sz="1800" u="none" cap="none" strike="noStrike">
                <a:solidFill>
                  <a:srgbClr val="000000"/>
                </a:solidFill>
                <a:latin typeface="Inter"/>
                <a:ea typeface="Inter"/>
                <a:cs typeface="Inter"/>
                <a:sym typeface="Inter"/>
              </a:rPr>
              <a:t>7. Accuracy &amp; Validation</a:t>
            </a:r>
            <a:endParaRPr/>
          </a:p>
        </p:txBody>
      </p:sp>
      <p:sp>
        <p:nvSpPr>
          <p:cNvPr id="107" name="Google Shape;107;p14"/>
          <p:cNvSpPr txBox="1"/>
          <p:nvPr/>
        </p:nvSpPr>
        <p:spPr>
          <a:xfrm>
            <a:off x="6581775" y="4224337"/>
            <a:ext cx="1333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00000"/>
                </a:solidFill>
                <a:latin typeface="Inter"/>
                <a:ea typeface="Inter"/>
                <a:cs typeface="Inter"/>
                <a:sym typeface="Inter"/>
              </a:rPr>
              <a:t>•</a:t>
            </a:r>
            <a:endParaRPr/>
          </a:p>
        </p:txBody>
      </p:sp>
      <p:sp>
        <p:nvSpPr>
          <p:cNvPr id="108" name="Google Shape;108;p14"/>
          <p:cNvSpPr txBox="1"/>
          <p:nvPr/>
        </p:nvSpPr>
        <p:spPr>
          <a:xfrm>
            <a:off x="6715125" y="4248150"/>
            <a:ext cx="4905375" cy="276225"/>
          </a:xfrm>
          <a:prstGeom prst="rect">
            <a:avLst/>
          </a:prstGeom>
          <a:noFill/>
          <a:ln>
            <a:noFill/>
          </a:ln>
        </p:spPr>
        <p:txBody>
          <a:bodyPr anchorCtr="0" anchor="t" bIns="0" lIns="133350" spcFirstLastPara="1" rIns="0" wrap="square" tIns="0">
            <a:spAutoFit/>
          </a:bodyPr>
          <a:lstStyle/>
          <a:p>
            <a:pPr indent="0" lvl="0" marL="0" marR="0" rtl="0" algn="l">
              <a:spcBef>
                <a:spcPts val="0"/>
              </a:spcBef>
              <a:spcAft>
                <a:spcPts val="0"/>
              </a:spcAft>
              <a:buNone/>
            </a:pPr>
            <a:r>
              <a:rPr b="1" i="0" lang="en-US" sz="1800" u="none" cap="none" strike="noStrike">
                <a:solidFill>
                  <a:srgbClr val="000000"/>
                </a:solidFill>
                <a:latin typeface="Inter"/>
                <a:ea typeface="Inter"/>
                <a:cs typeface="Inter"/>
                <a:sym typeface="Inter"/>
              </a:rPr>
              <a:t>8. Conclusion</a:t>
            </a:r>
            <a:endParaRPr/>
          </a:p>
        </p:txBody>
      </p:sp>
      <p:sp>
        <p:nvSpPr>
          <p:cNvPr id="109" name="Google Shape;109;p14"/>
          <p:cNvSpPr txBox="1"/>
          <p:nvPr/>
        </p:nvSpPr>
        <p:spPr>
          <a:xfrm>
            <a:off x="762000" y="571500"/>
            <a:ext cx="11401425"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Contents</a:t>
            </a:r>
            <a:endParaRPr/>
          </a:p>
        </p:txBody>
      </p:sp>
      <p:sp>
        <p:nvSpPr>
          <p:cNvPr id="110" name="Google Shape;110;p14"/>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pic>
        <p:nvPicPr>
          <p:cNvPr descr="image.png" id="115" name="Google Shape;11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6" name="Google Shape;116;p15"/>
          <p:cNvPicPr preferRelativeResize="0"/>
          <p:nvPr/>
        </p:nvPicPr>
        <p:blipFill rotWithShape="1">
          <a:blip r:embed="rId4">
            <a:alphaModFix/>
          </a:blip>
          <a:srcRect b="0" l="0" r="0" t="0"/>
          <a:stretch/>
        </p:blipFill>
        <p:spPr>
          <a:xfrm>
            <a:off x="571500" y="3800345"/>
            <a:ext cx="5286375" cy="1433810"/>
          </a:xfrm>
          <a:prstGeom prst="rect">
            <a:avLst/>
          </a:prstGeom>
          <a:noFill/>
          <a:ln>
            <a:noFill/>
          </a:ln>
        </p:spPr>
      </p:pic>
      <p:pic>
        <p:nvPicPr>
          <p:cNvPr descr="image.png" id="117" name="Google Shape;117;p15"/>
          <p:cNvPicPr preferRelativeResize="0"/>
          <p:nvPr/>
        </p:nvPicPr>
        <p:blipFill rotWithShape="1">
          <a:blip r:embed="rId5">
            <a:alphaModFix/>
          </a:blip>
          <a:srcRect b="0" l="0" r="0" t="0"/>
          <a:stretch/>
        </p:blipFill>
        <p:spPr>
          <a:xfrm>
            <a:off x="6334125" y="3800345"/>
            <a:ext cx="5286375" cy="1433810"/>
          </a:xfrm>
          <a:prstGeom prst="rect">
            <a:avLst/>
          </a:prstGeom>
          <a:noFill/>
          <a:ln>
            <a:noFill/>
          </a:ln>
        </p:spPr>
      </p:pic>
      <p:sp>
        <p:nvSpPr>
          <p:cNvPr id="118" name="Google Shape;118;p15"/>
          <p:cNvSpPr txBox="1"/>
          <p:nvPr/>
        </p:nvSpPr>
        <p:spPr>
          <a:xfrm>
            <a:off x="571500" y="2011732"/>
            <a:ext cx="11601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64E3B"/>
                </a:solidFill>
                <a:latin typeface="Montserrat"/>
                <a:ea typeface="Montserrat"/>
                <a:cs typeface="Montserrat"/>
                <a:sym typeface="Montserrat"/>
              </a:rPr>
              <a:t>Time Series Forecasting</a:t>
            </a:r>
            <a:endParaRPr/>
          </a:p>
        </p:txBody>
      </p:sp>
      <p:sp>
        <p:nvSpPr>
          <p:cNvPr id="119" name="Google Shape;119;p15"/>
          <p:cNvSpPr txBox="1"/>
          <p:nvPr/>
        </p:nvSpPr>
        <p:spPr>
          <a:xfrm>
            <a:off x="571500" y="2434107"/>
            <a:ext cx="110490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latin typeface="Inter"/>
                <a:ea typeface="Inter"/>
                <a:cs typeface="Inter"/>
                <a:sym typeface="Inter"/>
              </a:rPr>
              <a:t>Air quality is complex, non-linear, and influenced by seasonal weather patterns and traffic.</a:t>
            </a:r>
            <a:endParaRPr/>
          </a:p>
        </p:txBody>
      </p:sp>
      <p:sp>
        <p:nvSpPr>
          <p:cNvPr id="120" name="Google Shape;120;p15"/>
          <p:cNvSpPr txBox="1"/>
          <p:nvPr/>
        </p:nvSpPr>
        <p:spPr>
          <a:xfrm>
            <a:off x="819150" y="3967162"/>
            <a:ext cx="5030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latin typeface="Inter"/>
                <a:ea typeface="Inter"/>
                <a:cs typeface="Inter"/>
                <a:sym typeface="Inter"/>
              </a:rPr>
              <a:t>Temporal Dependancy</a:t>
            </a:r>
            <a:endParaRPr/>
          </a:p>
        </p:txBody>
      </p:sp>
      <p:sp>
        <p:nvSpPr>
          <p:cNvPr id="121" name="Google Shape;121;p15"/>
          <p:cNvSpPr txBox="1"/>
          <p:nvPr/>
        </p:nvSpPr>
        <p:spPr>
          <a:xfrm>
            <a:off x="819150" y="4341324"/>
            <a:ext cx="4791000" cy="73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latin typeface="Inter"/>
                <a:ea typeface="Inter"/>
                <a:cs typeface="Inter"/>
                <a:sym typeface="Inter"/>
              </a:rPr>
              <a:t>Observed pollutant levels are statistically linked to their own past values. Standard regression assumes data </a:t>
            </a:r>
            <a:r>
              <a:rPr lang="en-US" sz="1200">
                <a:latin typeface="Inter"/>
                <a:ea typeface="Inter"/>
                <a:cs typeface="Inter"/>
                <a:sym typeface="Inter"/>
              </a:rPr>
              <a:t>independence, whereas time-series modelling must account for this “memory” to provide accurate future estimates</a:t>
            </a:r>
            <a:endParaRPr/>
          </a:p>
        </p:txBody>
      </p:sp>
      <p:sp>
        <p:nvSpPr>
          <p:cNvPr id="122" name="Google Shape;122;p15"/>
          <p:cNvSpPr txBox="1"/>
          <p:nvPr/>
        </p:nvSpPr>
        <p:spPr>
          <a:xfrm>
            <a:off x="6581775" y="3967162"/>
            <a:ext cx="5030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latin typeface="Inter"/>
                <a:ea typeface="Inter"/>
                <a:cs typeface="Inter"/>
                <a:sym typeface="Inter"/>
              </a:rPr>
              <a:t>Nested seasonality</a:t>
            </a:r>
            <a:endParaRPr/>
          </a:p>
        </p:txBody>
      </p:sp>
      <p:sp>
        <p:nvSpPr>
          <p:cNvPr id="123" name="Google Shape;123;p15"/>
          <p:cNvSpPr txBox="1"/>
          <p:nvPr/>
        </p:nvSpPr>
        <p:spPr>
          <a:xfrm>
            <a:off x="6581775" y="4322433"/>
            <a:ext cx="4791000" cy="73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latin typeface="Inter"/>
                <a:ea typeface="Inter"/>
                <a:cs typeface="Inter"/>
                <a:sym typeface="Inter"/>
              </a:rPr>
              <a:t>Pollutants exhibit overlapping cycles: daily rush-hour spikes, weekly traffic rhythms, and winter temperature inversions. Disentangling these patterns from long-term trends is critical for identifying true environmental shifts.</a:t>
            </a:r>
            <a:endParaRPr/>
          </a:p>
        </p:txBody>
      </p:sp>
      <p:sp>
        <p:nvSpPr>
          <p:cNvPr id="124" name="Google Shape;124;p15"/>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The Scientific Problem</a:t>
            </a:r>
            <a:endParaRPr/>
          </a:p>
        </p:txBody>
      </p:sp>
      <p:sp>
        <p:nvSpPr>
          <p:cNvPr id="125" name="Google Shape;125;p15"/>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5"/>
          <p:cNvSpPr txBox="1"/>
          <p:nvPr/>
        </p:nvSpPr>
        <p:spPr>
          <a:xfrm>
            <a:off x="571500" y="2825275"/>
            <a:ext cx="96117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sz="1200">
                <a:solidFill>
                  <a:schemeClr val="dk1"/>
                </a:solidFill>
                <a:latin typeface="Inter"/>
                <a:ea typeface="Inter"/>
                <a:cs typeface="Inter"/>
                <a:sym typeface="Inter"/>
              </a:rPr>
              <a:t>P</a:t>
            </a:r>
            <a:r>
              <a:rPr lang="en-US" sz="1200">
                <a:solidFill>
                  <a:schemeClr val="dk1"/>
                </a:solidFill>
                <a:latin typeface="Inter"/>
                <a:ea typeface="Inter"/>
                <a:cs typeface="Inter"/>
                <a:sym typeface="Inter"/>
              </a:rPr>
              <a:t>olicymakers need evidence based tools to forecast pollution levels to protect public health.</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US" sz="1200">
                <a:solidFill>
                  <a:schemeClr val="dk1"/>
                </a:solidFill>
              </a:rPr>
              <a:t>Air quality is shaped by a complex interplay of unpredictable traffic patterns and changing weather, making it a challenge for standard linear models to capture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16"/>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00">
                <a:solidFill>
                  <a:srgbClr val="064E3B"/>
                </a:solidFill>
                <a:latin typeface="Montserrat"/>
                <a:ea typeface="Montserrat"/>
                <a:cs typeface="Montserrat"/>
                <a:sym typeface="Montserrat"/>
              </a:rPr>
              <a:t>Why Forecast Air Quality</a:t>
            </a:r>
            <a:endParaRPr/>
          </a:p>
        </p:txBody>
      </p:sp>
      <p:sp>
        <p:nvSpPr>
          <p:cNvPr id="132" name="Google Shape;132;p16"/>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pic>
        <p:nvPicPr>
          <p:cNvPr descr="image.png" id="133" name="Google Shape;133;p16"/>
          <p:cNvPicPr preferRelativeResize="0"/>
          <p:nvPr/>
        </p:nvPicPr>
        <p:blipFill rotWithShape="1">
          <a:blip r:embed="rId4">
            <a:alphaModFix/>
          </a:blip>
          <a:srcRect b="0" l="0" r="0" t="0"/>
          <a:stretch/>
        </p:blipFill>
        <p:spPr>
          <a:xfrm>
            <a:off x="6956900" y="1838225"/>
            <a:ext cx="4040825" cy="4165800"/>
          </a:xfrm>
          <a:prstGeom prst="rect">
            <a:avLst/>
          </a:prstGeom>
          <a:noFill/>
          <a:ln>
            <a:noFill/>
          </a:ln>
        </p:spPr>
      </p:pic>
      <p:sp>
        <p:nvSpPr>
          <p:cNvPr id="134" name="Google Shape;134;p16"/>
          <p:cNvSpPr txBox="1"/>
          <p:nvPr/>
        </p:nvSpPr>
        <p:spPr>
          <a:xfrm>
            <a:off x="571500" y="2259000"/>
            <a:ext cx="57219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Understanding the value of predictive air-quality monitoring </a:t>
            </a:r>
            <a:endParaRPr/>
          </a:p>
        </p:txBody>
      </p:sp>
      <p:sp>
        <p:nvSpPr>
          <p:cNvPr id="135" name="Google Shape;135;p16"/>
          <p:cNvSpPr txBox="1"/>
          <p:nvPr/>
        </p:nvSpPr>
        <p:spPr>
          <a:xfrm>
            <a:off x="631283" y="2712322"/>
            <a:ext cx="5286300" cy="18840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200"/>
              </a:spcBef>
              <a:spcAft>
                <a:spcPts val="0"/>
              </a:spcAft>
              <a:buSzPts val="1200"/>
              <a:buFont typeface="Inter"/>
              <a:buChar char="●"/>
            </a:pPr>
            <a:r>
              <a:rPr lang="en-US" sz="1200">
                <a:latin typeface="Inter"/>
                <a:ea typeface="Inter"/>
                <a:cs typeface="Inter"/>
                <a:sym typeface="Inter"/>
              </a:rPr>
              <a:t>Forecasting allows high pollution periods to be identified before harmful conditions occur. </a:t>
            </a:r>
            <a:endParaRPr sz="1200">
              <a:latin typeface="Inter"/>
              <a:ea typeface="Inter"/>
              <a:cs typeface="Inter"/>
              <a:sym typeface="Inter"/>
            </a:endParaRPr>
          </a:p>
          <a:p>
            <a:pPr indent="-304800" lvl="0" marL="457200" rtl="0" algn="l">
              <a:lnSpc>
                <a:spcPct val="115000"/>
              </a:lnSpc>
              <a:spcBef>
                <a:spcPts val="0"/>
              </a:spcBef>
              <a:spcAft>
                <a:spcPts val="0"/>
              </a:spcAft>
              <a:buSzPts val="1200"/>
              <a:buFont typeface="Inter"/>
              <a:buChar char="●"/>
            </a:pPr>
            <a:r>
              <a:rPr lang="en-US" sz="1200">
                <a:latin typeface="Inter"/>
                <a:ea typeface="Inter"/>
                <a:cs typeface="Inter"/>
                <a:sym typeface="Inter"/>
              </a:rPr>
              <a:t>Early warnings help reduce exposure risks for vulnerable populations, including children, elderly individuals, and people with respiratory conditions. </a:t>
            </a:r>
            <a:endParaRPr sz="1200">
              <a:latin typeface="Inter"/>
              <a:ea typeface="Inter"/>
              <a:cs typeface="Inter"/>
              <a:sym typeface="Inter"/>
            </a:endParaRPr>
          </a:p>
          <a:p>
            <a:pPr indent="-304800" lvl="0" marL="457200" rtl="0" algn="l">
              <a:lnSpc>
                <a:spcPct val="115000"/>
              </a:lnSpc>
              <a:spcBef>
                <a:spcPts val="0"/>
              </a:spcBef>
              <a:spcAft>
                <a:spcPts val="0"/>
              </a:spcAft>
              <a:buSzPts val="1200"/>
              <a:buFont typeface="Inter"/>
              <a:buChar char="●"/>
            </a:pPr>
            <a:r>
              <a:rPr lang="en-US" sz="1200">
                <a:latin typeface="Inter"/>
                <a:ea typeface="Inter"/>
                <a:cs typeface="Inter"/>
                <a:sym typeface="Inter"/>
              </a:rPr>
              <a:t>Forecasting supports evidence-based policymaking, traffic regulation, and environmental planning. </a:t>
            </a:r>
            <a:endParaRPr sz="1200">
              <a:latin typeface="Inter"/>
              <a:ea typeface="Inter"/>
              <a:cs typeface="Inter"/>
              <a:sym typeface="Inter"/>
            </a:endParaRPr>
          </a:p>
          <a:p>
            <a:pPr indent="-304800" lvl="0" marL="457200" rtl="0" algn="l">
              <a:lnSpc>
                <a:spcPct val="115000"/>
              </a:lnSpc>
              <a:spcBef>
                <a:spcPts val="0"/>
              </a:spcBef>
              <a:spcAft>
                <a:spcPts val="0"/>
              </a:spcAft>
              <a:buSzPts val="1200"/>
              <a:buFont typeface="Inter"/>
              <a:buChar char="●"/>
            </a:pPr>
            <a:r>
              <a:rPr lang="en-US" sz="1200">
                <a:latin typeface="Inter"/>
                <a:ea typeface="Inter"/>
                <a:cs typeface="Inter"/>
                <a:sym typeface="Inter"/>
              </a:rPr>
              <a:t>Authorities can respond more effectively by preparing mitigation strategies during predicted pollution spikes.</a:t>
            </a:r>
            <a:endParaRPr sz="1200">
              <a:latin typeface="Inter"/>
              <a:ea typeface="Inter"/>
              <a:cs typeface="Inter"/>
              <a:sym typeface="Inter"/>
            </a:endParaRPr>
          </a:p>
        </p:txBody>
      </p:sp>
      <p:pic>
        <p:nvPicPr>
          <p:cNvPr id="136" name="Google Shape;136;p16"/>
          <p:cNvPicPr preferRelativeResize="0"/>
          <p:nvPr/>
        </p:nvPicPr>
        <p:blipFill>
          <a:blip r:embed="rId5">
            <a:alphaModFix/>
          </a:blip>
          <a:stretch>
            <a:fillRect/>
          </a:stretch>
        </p:blipFill>
        <p:spPr>
          <a:xfrm>
            <a:off x="6956897" y="1838231"/>
            <a:ext cx="4040825" cy="41657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pic>
        <p:nvPicPr>
          <p:cNvPr descr="image.png" id="141" name="Google Shape;141;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2" name="Google Shape;142;p17"/>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a:t>
            </a:r>
            <a:r>
              <a:rPr b="1" lang="en-US" sz="3300">
                <a:solidFill>
                  <a:srgbClr val="064E3B"/>
                </a:solidFill>
                <a:latin typeface="Montserrat"/>
                <a:ea typeface="Montserrat"/>
                <a:cs typeface="Montserrat"/>
                <a:sym typeface="Montserrat"/>
              </a:rPr>
              <a:t>Project Overview and Objectives</a:t>
            </a:r>
            <a:endParaRPr/>
          </a:p>
        </p:txBody>
      </p:sp>
      <p:sp>
        <p:nvSpPr>
          <p:cNvPr id="143" name="Google Shape;143;p17"/>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7"/>
          <p:cNvSpPr txBox="1"/>
          <p:nvPr/>
        </p:nvSpPr>
        <p:spPr>
          <a:xfrm>
            <a:off x="571500" y="1918925"/>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Project Overview</a:t>
            </a:r>
            <a:endParaRPr/>
          </a:p>
        </p:txBody>
      </p:sp>
      <p:sp>
        <p:nvSpPr>
          <p:cNvPr id="145" name="Google Shape;145;p17"/>
          <p:cNvSpPr txBox="1"/>
          <p:nvPr/>
        </p:nvSpPr>
        <p:spPr>
          <a:xfrm>
            <a:off x="609285" y="3507159"/>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Key Objectives</a:t>
            </a:r>
            <a:endParaRPr/>
          </a:p>
        </p:txBody>
      </p:sp>
      <p:sp>
        <p:nvSpPr>
          <p:cNvPr id="146" name="Google Shape;146;p17"/>
          <p:cNvSpPr txBox="1"/>
          <p:nvPr/>
        </p:nvSpPr>
        <p:spPr>
          <a:xfrm>
            <a:off x="571500" y="2377425"/>
            <a:ext cx="75900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200">
                <a:latin typeface="Inter"/>
                <a:ea typeface="Inter"/>
                <a:cs typeface="Inter"/>
                <a:sym typeface="Inter"/>
              </a:rPr>
              <a:t>This project delivers an interactive, web-based dashboard designed to explore and forecast UK air quality and pollutant patterns. By utilizing historical monitoring data (2020–present), the application provides a user-friendly interface for visualizing environmental trends and applying advanced time-series forecasting. </a:t>
            </a:r>
            <a:endParaRPr/>
          </a:p>
          <a:p>
            <a:pPr indent="0" lvl="0" marL="0" marR="0" rtl="0" algn="l">
              <a:spcBef>
                <a:spcPts val="0"/>
              </a:spcBef>
              <a:spcAft>
                <a:spcPts val="0"/>
              </a:spcAft>
              <a:buNone/>
            </a:pPr>
            <a:r>
              <a:rPr lang="en-US" sz="1200">
                <a:latin typeface="Inter"/>
                <a:ea typeface="Inter"/>
                <a:cs typeface="Inter"/>
                <a:sym typeface="Inter"/>
              </a:rPr>
              <a:t>.</a:t>
            </a:r>
            <a:endParaRPr/>
          </a:p>
        </p:txBody>
      </p:sp>
      <p:sp>
        <p:nvSpPr>
          <p:cNvPr id="147" name="Google Shape;147;p17"/>
          <p:cNvSpPr txBox="1"/>
          <p:nvPr/>
        </p:nvSpPr>
        <p:spPr>
          <a:xfrm>
            <a:off x="571500" y="3920226"/>
            <a:ext cx="7155600" cy="261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rgbClr val="064E3B"/>
                </a:solidFill>
                <a:latin typeface="Inter"/>
                <a:ea typeface="Inter"/>
                <a:cs typeface="Inter"/>
                <a:sym typeface="Inter"/>
              </a:rPr>
              <a:t>Trend Visualization:</a:t>
            </a:r>
            <a:r>
              <a:rPr lang="en-US" sz="1200">
                <a:solidFill>
                  <a:schemeClr val="dk1"/>
                </a:solidFill>
                <a:latin typeface="Inter"/>
                <a:ea typeface="Inter"/>
                <a:cs typeface="Inter"/>
                <a:sym typeface="Inter"/>
              </a:rPr>
              <a:t> To provide an intuitive platform for exploring how air quality and weather variables change over different temporal scales (Daily, Weekly, Monthly, Yearly).</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US" sz="1200">
                <a:solidFill>
                  <a:srgbClr val="064E3B"/>
                </a:solidFill>
                <a:latin typeface="Inter"/>
                <a:ea typeface="Inter"/>
                <a:cs typeface="Inter"/>
                <a:sym typeface="Inter"/>
              </a:rPr>
              <a:t>Model Comparison:</a:t>
            </a:r>
            <a:r>
              <a:rPr lang="en-US" sz="1200">
                <a:solidFill>
                  <a:srgbClr val="064E3B"/>
                </a:solidFill>
                <a:latin typeface="Inter"/>
                <a:ea typeface="Inter"/>
                <a:cs typeface="Inter"/>
                <a:sym typeface="Inter"/>
              </a:rPr>
              <a:t> </a:t>
            </a:r>
            <a:r>
              <a:rPr lang="en-US" sz="1200">
                <a:solidFill>
                  <a:schemeClr val="dk1"/>
                </a:solidFill>
                <a:latin typeface="Inter"/>
                <a:ea typeface="Inter"/>
                <a:cs typeface="Inter"/>
                <a:sym typeface="Inter"/>
              </a:rPr>
              <a:t>To implement and test multiple time-series forecasting engines including ARIMA, ETS, and Naive methods. Also to identify the most reliable predictors for specific monitoring sites.</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US" sz="1200">
                <a:solidFill>
                  <a:srgbClr val="064E3B"/>
                </a:solidFill>
                <a:latin typeface="Inter"/>
                <a:ea typeface="Inter"/>
                <a:cs typeface="Inter"/>
                <a:sym typeface="Inter"/>
              </a:rPr>
              <a:t>Performance Evaluation:</a:t>
            </a:r>
            <a:r>
              <a:rPr lang="en-US" sz="1200">
                <a:solidFill>
                  <a:schemeClr val="dk1"/>
                </a:solidFill>
                <a:latin typeface="Inter"/>
                <a:ea typeface="Inter"/>
                <a:cs typeface="Inter"/>
                <a:sym typeface="Inter"/>
              </a:rPr>
              <a:t> To facilitate data-driven decision making by quantifying model performance using scientific accuracy metrics like RMSE, MAE, and MAPE.</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200">
                <a:solidFill>
                  <a:srgbClr val="064E3B"/>
                </a:solidFill>
                <a:latin typeface="Inter"/>
                <a:ea typeface="Inter"/>
                <a:cs typeface="Inter"/>
                <a:sym typeface="Inter"/>
              </a:rPr>
              <a:t>Accessible Analytics:</a:t>
            </a:r>
            <a:r>
              <a:rPr lang="en-US" sz="1200">
                <a:solidFill>
                  <a:srgbClr val="064E3B"/>
                </a:solidFill>
                <a:latin typeface="Inter"/>
                <a:ea typeface="Inter"/>
                <a:cs typeface="Inter"/>
                <a:sym typeface="Inter"/>
              </a:rPr>
              <a:t> </a:t>
            </a:r>
            <a:r>
              <a:rPr lang="en-US" sz="1200">
                <a:solidFill>
                  <a:schemeClr val="dk1"/>
                </a:solidFill>
                <a:latin typeface="Inter"/>
                <a:ea typeface="Inter"/>
                <a:cs typeface="Inter"/>
                <a:sym typeface="Inter"/>
              </a:rPr>
              <a:t>To lower the barrier to entry for environmental analysis, allowing users to interact with complex statistical models without needing direct access to the underlying code.</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pic>
        <p:nvPicPr>
          <p:cNvPr descr="image.png" id="152" name="Google Shape;152;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3" name="Google Shape;153;p18"/>
          <p:cNvSpPr txBox="1"/>
          <p:nvPr/>
        </p:nvSpPr>
        <p:spPr>
          <a:xfrm>
            <a:off x="495925" y="1712375"/>
            <a:ext cx="5286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We used the </a:t>
            </a:r>
            <a:r>
              <a:rPr b="1" i="0" lang="en-US" sz="1200" u="none" cap="none" strike="noStrike">
                <a:solidFill>
                  <a:srgbClr val="000000"/>
                </a:solidFill>
                <a:latin typeface="Inter"/>
                <a:ea typeface="Inter"/>
                <a:cs typeface="Inter"/>
                <a:sym typeface="Inter"/>
              </a:rPr>
              <a:t>Automatic Urban and Rural Network (AURN)</a:t>
            </a:r>
            <a:r>
              <a:rPr b="0" i="0" lang="en-US" sz="1200" u="none" cap="none" strike="noStrike">
                <a:solidFill>
                  <a:srgbClr val="000000"/>
                </a:solidFill>
                <a:latin typeface="Inter"/>
                <a:ea typeface="Inter"/>
                <a:cs typeface="Inter"/>
                <a:sym typeface="Inter"/>
              </a:rPr>
              <a:t> dataset.</a:t>
            </a:r>
            <a:endParaRPr/>
          </a:p>
        </p:txBody>
      </p:sp>
      <p:sp>
        <p:nvSpPr>
          <p:cNvPr id="154" name="Google Shape;154;p18"/>
          <p:cNvSpPr txBox="1"/>
          <p:nvPr/>
        </p:nvSpPr>
        <p:spPr>
          <a:xfrm>
            <a:off x="866775" y="2149580"/>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155" name="Google Shape;155;p18"/>
          <p:cNvSpPr txBox="1"/>
          <p:nvPr/>
        </p:nvSpPr>
        <p:spPr>
          <a:xfrm>
            <a:off x="952500" y="2149737"/>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Hourly observations from 2015-2023.</a:t>
            </a:r>
            <a:endParaRPr/>
          </a:p>
        </p:txBody>
      </p:sp>
      <p:sp>
        <p:nvSpPr>
          <p:cNvPr id="156" name="Google Shape;156;p18"/>
          <p:cNvSpPr txBox="1"/>
          <p:nvPr/>
        </p:nvSpPr>
        <p:spPr>
          <a:xfrm>
            <a:off x="866775" y="2529006"/>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157" name="Google Shape;157;p18"/>
          <p:cNvSpPr txBox="1"/>
          <p:nvPr/>
        </p:nvSpPr>
        <p:spPr>
          <a:xfrm>
            <a:off x="952500" y="2529163"/>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Variables: NO2, PM10, PM2.5, Ozone, and Weather data.</a:t>
            </a:r>
            <a:endParaRPr/>
          </a:p>
        </p:txBody>
      </p:sp>
      <p:sp>
        <p:nvSpPr>
          <p:cNvPr id="158" name="Google Shape;158;p18"/>
          <p:cNvSpPr txBox="1"/>
          <p:nvPr/>
        </p:nvSpPr>
        <p:spPr>
          <a:xfrm>
            <a:off x="866775" y="2908431"/>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159" name="Google Shape;159;p18"/>
          <p:cNvSpPr txBox="1"/>
          <p:nvPr/>
        </p:nvSpPr>
        <p:spPr>
          <a:xfrm>
            <a:off x="952500" y="2908589"/>
            <a:ext cx="4905300" cy="3693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Challenge: Large file size with over 1,000,000 rows and a lot missing values (NAs).</a:t>
            </a:r>
            <a:endParaRPr/>
          </a:p>
        </p:txBody>
      </p:sp>
      <p:sp>
        <p:nvSpPr>
          <p:cNvPr id="160" name="Google Shape;160;p18"/>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The Dataset: AURN</a:t>
            </a:r>
            <a:endParaRPr/>
          </a:p>
        </p:txBody>
      </p:sp>
      <p:sp>
        <p:nvSpPr>
          <p:cNvPr id="161" name="Google Shape;161;p18"/>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62" name="Google Shape;162;p18"/>
          <p:cNvPicPr preferRelativeResize="0"/>
          <p:nvPr/>
        </p:nvPicPr>
        <p:blipFill>
          <a:blip r:embed="rId4">
            <a:alphaModFix/>
          </a:blip>
          <a:stretch>
            <a:fillRect/>
          </a:stretch>
        </p:blipFill>
        <p:spPr>
          <a:xfrm>
            <a:off x="1228025" y="3423740"/>
            <a:ext cx="8747249" cy="30282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pic>
        <p:nvPicPr>
          <p:cNvPr descr="image.png" id="167" name="Google Shape;167;p19"/>
          <p:cNvPicPr preferRelativeResize="0"/>
          <p:nvPr/>
        </p:nvPicPr>
        <p:blipFill rotWithShape="1">
          <a:blip r:embed="rId3">
            <a:alphaModFix/>
          </a:blip>
          <a:srcRect b="0" l="0" r="0" t="0"/>
          <a:stretch/>
        </p:blipFill>
        <p:spPr>
          <a:xfrm>
            <a:off x="-472300" y="0"/>
            <a:ext cx="12192000" cy="6858000"/>
          </a:xfrm>
          <a:prstGeom prst="rect">
            <a:avLst/>
          </a:prstGeom>
          <a:noFill/>
          <a:ln>
            <a:noFill/>
          </a:ln>
        </p:spPr>
      </p:pic>
      <p:pic>
        <p:nvPicPr>
          <p:cNvPr descr="image.png" id="168" name="Google Shape;168;p19"/>
          <p:cNvPicPr preferRelativeResize="0"/>
          <p:nvPr/>
        </p:nvPicPr>
        <p:blipFill rotWithShape="1">
          <a:blip r:embed="rId4">
            <a:alphaModFix/>
          </a:blip>
          <a:srcRect b="0" l="0" r="0" t="0"/>
          <a:stretch/>
        </p:blipFill>
        <p:spPr>
          <a:xfrm>
            <a:off x="533725" y="2858750"/>
            <a:ext cx="5286375" cy="1449900"/>
          </a:xfrm>
          <a:prstGeom prst="rect">
            <a:avLst/>
          </a:prstGeom>
          <a:noFill/>
          <a:ln>
            <a:noFill/>
          </a:ln>
        </p:spPr>
      </p:pic>
      <p:pic>
        <p:nvPicPr>
          <p:cNvPr descr="image.png" id="169" name="Google Shape;169;p19"/>
          <p:cNvPicPr preferRelativeResize="0"/>
          <p:nvPr/>
        </p:nvPicPr>
        <p:blipFill rotWithShape="1">
          <a:blip r:embed="rId5">
            <a:alphaModFix/>
          </a:blip>
          <a:srcRect b="0" l="0" r="0" t="0"/>
          <a:stretch/>
        </p:blipFill>
        <p:spPr>
          <a:xfrm>
            <a:off x="6334125" y="2877647"/>
            <a:ext cx="5286375" cy="1449900"/>
          </a:xfrm>
          <a:prstGeom prst="rect">
            <a:avLst/>
          </a:prstGeom>
          <a:noFill/>
          <a:ln>
            <a:noFill/>
          </a:ln>
        </p:spPr>
      </p:pic>
      <p:sp>
        <p:nvSpPr>
          <p:cNvPr id="170" name="Google Shape;170;p19"/>
          <p:cNvSpPr txBox="1"/>
          <p:nvPr/>
        </p:nvSpPr>
        <p:spPr>
          <a:xfrm>
            <a:off x="571500" y="1665677"/>
            <a:ext cx="5927700" cy="109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Beyond the standard library, we utilized the </a:t>
            </a:r>
            <a:r>
              <a:rPr lang="en-US" sz="1200">
                <a:latin typeface="Inter"/>
                <a:ea typeface="Inter"/>
                <a:cs typeface="Inter"/>
                <a:sym typeface="Inter"/>
              </a:rPr>
              <a:t>forecast</a:t>
            </a:r>
            <a:r>
              <a:rPr i="0" lang="en-US" sz="1200" u="none" cap="none" strike="noStrike">
                <a:solidFill>
                  <a:srgbClr val="000000"/>
                </a:solidFill>
                <a:latin typeface="Inter"/>
                <a:ea typeface="Inter"/>
                <a:cs typeface="Inter"/>
                <a:sym typeface="Inter"/>
              </a:rPr>
              <a:t>package </a:t>
            </a:r>
            <a:r>
              <a:rPr b="0" i="0" lang="en-US" sz="1200" u="none" cap="none" strike="noStrike">
                <a:solidFill>
                  <a:srgbClr val="000000"/>
                </a:solidFill>
                <a:latin typeface="Inter"/>
                <a:ea typeface="Inter"/>
                <a:cs typeface="Inter"/>
                <a:sym typeface="Inter"/>
              </a:rPr>
              <a:t>by Rob Hyndman.</a:t>
            </a:r>
            <a:endParaRPr b="0" i="0" sz="1200" u="none" cap="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sz="1200">
              <a:latin typeface="Inter"/>
              <a:ea typeface="Inter"/>
              <a:cs typeface="Inter"/>
              <a:sym typeface="Inter"/>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rPr lang="en-US" sz="1100">
                <a:solidFill>
                  <a:schemeClr val="dk1"/>
                </a:solidFill>
              </a:rPr>
              <a:t>The </a:t>
            </a:r>
            <a:r>
              <a:rPr lang="en-US" sz="1200">
                <a:solidFill>
                  <a:schemeClr val="dk1"/>
                </a:solidFill>
                <a:latin typeface="Roboto Mono"/>
                <a:ea typeface="Roboto Mono"/>
                <a:cs typeface="Roboto Mono"/>
                <a:sym typeface="Roboto Mono"/>
              </a:rPr>
              <a:t>forecast</a:t>
            </a:r>
            <a:r>
              <a:rPr lang="en-US" sz="1200">
                <a:solidFill>
                  <a:schemeClr val="dk1"/>
                </a:solidFill>
              </a:rPr>
              <a:t> package provides a comprehensive suite of forecasting methods. Our analysis focuses on two of its most powerful advanced engines: ARIMA and ETS. </a:t>
            </a:r>
            <a:endParaRPr sz="1200">
              <a:solidFill>
                <a:schemeClr val="dk1"/>
              </a:solidFill>
              <a:latin typeface="Inter"/>
              <a:ea typeface="Inter"/>
              <a:cs typeface="Inter"/>
              <a:sym typeface="Inter"/>
            </a:endParaRPr>
          </a:p>
          <a:p>
            <a:pPr indent="0" lvl="0" marL="0" marR="0" rtl="0" algn="l">
              <a:spcBef>
                <a:spcPts val="0"/>
              </a:spcBef>
              <a:spcAft>
                <a:spcPts val="0"/>
              </a:spcAft>
              <a:buNone/>
            </a:pPr>
            <a:r>
              <a:t/>
            </a:r>
            <a:endParaRPr sz="1200">
              <a:latin typeface="Inter"/>
              <a:ea typeface="Inter"/>
              <a:cs typeface="Inter"/>
              <a:sym typeface="Inter"/>
            </a:endParaRPr>
          </a:p>
        </p:txBody>
      </p:sp>
      <p:sp>
        <p:nvSpPr>
          <p:cNvPr id="171" name="Google Shape;171;p19"/>
          <p:cNvSpPr txBox="1"/>
          <p:nvPr/>
        </p:nvSpPr>
        <p:spPr>
          <a:xfrm>
            <a:off x="819150" y="3044458"/>
            <a:ext cx="5030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0000"/>
                </a:solidFill>
                <a:latin typeface="Inter"/>
                <a:ea typeface="Inter"/>
                <a:cs typeface="Inter"/>
                <a:sym typeface="Inter"/>
              </a:rPr>
              <a:t>ARIMA (Auto-Regressive Integrated Moving Average)</a:t>
            </a:r>
            <a:r>
              <a:rPr b="1" i="0" lang="en-US" sz="1200" u="none" cap="none" strike="noStrike">
                <a:solidFill>
                  <a:srgbClr val="000000"/>
                </a:solidFill>
                <a:latin typeface="Inter"/>
                <a:ea typeface="Inter"/>
                <a:cs typeface="Inter"/>
                <a:sym typeface="Inter"/>
              </a:rPr>
              <a:t> </a:t>
            </a:r>
            <a:endParaRPr/>
          </a:p>
        </p:txBody>
      </p:sp>
      <p:sp>
        <p:nvSpPr>
          <p:cNvPr id="172" name="Google Shape;172;p19"/>
          <p:cNvSpPr txBox="1"/>
          <p:nvPr/>
        </p:nvSpPr>
        <p:spPr>
          <a:xfrm>
            <a:off x="819150" y="3399728"/>
            <a:ext cx="4791000" cy="73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Automatically discovers the optimal (p, d, q) parameters for a non-stationary time series. It looks at how past values and past forecast errors</a:t>
            </a:r>
            <a:r>
              <a:rPr lang="en-US" sz="1200">
                <a:latin typeface="Inter"/>
                <a:ea typeface="Inter"/>
                <a:cs typeface="Inter"/>
                <a:sym typeface="Inter"/>
              </a:rPr>
              <a:t> </a:t>
            </a:r>
            <a:r>
              <a:rPr b="0" i="0" lang="en-US" sz="1200" u="none" cap="none" strike="noStrike">
                <a:solidFill>
                  <a:srgbClr val="000000"/>
                </a:solidFill>
                <a:latin typeface="Inter"/>
                <a:ea typeface="Inter"/>
                <a:cs typeface="Inter"/>
                <a:sym typeface="Inter"/>
              </a:rPr>
              <a:t>influence the future, while using "differencing" to stabilize data that has a trend. </a:t>
            </a:r>
            <a:endParaRPr/>
          </a:p>
        </p:txBody>
      </p:sp>
      <p:sp>
        <p:nvSpPr>
          <p:cNvPr id="173" name="Google Shape;173;p19"/>
          <p:cNvSpPr txBox="1"/>
          <p:nvPr/>
        </p:nvSpPr>
        <p:spPr>
          <a:xfrm>
            <a:off x="6581775" y="3044458"/>
            <a:ext cx="5030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latin typeface="Inter"/>
                <a:ea typeface="Inter"/>
                <a:cs typeface="Inter"/>
                <a:sym typeface="Inter"/>
              </a:rPr>
              <a:t>ETS (Exponential Smoothing)</a:t>
            </a:r>
            <a:endParaRPr/>
          </a:p>
        </p:txBody>
      </p:sp>
      <p:sp>
        <p:nvSpPr>
          <p:cNvPr id="174" name="Google Shape;174;p19"/>
          <p:cNvSpPr txBox="1"/>
          <p:nvPr/>
        </p:nvSpPr>
        <p:spPr>
          <a:xfrm>
            <a:off x="6581775" y="3380835"/>
            <a:ext cx="4791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chemeClr val="dk1"/>
                </a:solidFill>
              </a:rPr>
              <a:t>D</a:t>
            </a:r>
            <a:r>
              <a:rPr lang="en-US" sz="1200">
                <a:solidFill>
                  <a:schemeClr val="dk1"/>
                </a:solidFill>
                <a:latin typeface="Inter"/>
                <a:ea typeface="Inter"/>
                <a:cs typeface="Inter"/>
                <a:sym typeface="Inter"/>
              </a:rPr>
              <a:t>ecomposes the time series into three clear components: the underlying Trend (the long-term direction), the Seasonality (the repeating cycle), and the Error (the noise). </a:t>
            </a:r>
            <a:endParaRPr sz="1200">
              <a:latin typeface="Inter"/>
              <a:ea typeface="Inter"/>
              <a:cs typeface="Inter"/>
              <a:sym typeface="Inter"/>
            </a:endParaRPr>
          </a:p>
        </p:txBody>
      </p:sp>
      <p:sp>
        <p:nvSpPr>
          <p:cNvPr id="175" name="Google Shape;175;p19"/>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Package Choice: </a:t>
            </a:r>
            <a:r>
              <a:rPr b="1" i="1" lang="en-US" sz="3300" u="none" cap="none" strike="noStrike">
                <a:solidFill>
                  <a:srgbClr val="064E3B"/>
                </a:solidFill>
                <a:latin typeface="Montserrat"/>
                <a:ea typeface="Montserrat"/>
                <a:cs typeface="Montserrat"/>
                <a:sym typeface="Montserrat"/>
              </a:rPr>
              <a:t>forecast</a:t>
            </a:r>
            <a:endParaRPr/>
          </a:p>
        </p:txBody>
      </p:sp>
      <p:sp>
        <p:nvSpPr>
          <p:cNvPr id="176" name="Google Shape;176;p19"/>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9"/>
          <p:cNvSpPr txBox="1"/>
          <p:nvPr/>
        </p:nvSpPr>
        <p:spPr>
          <a:xfrm>
            <a:off x="301060" y="1662058"/>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178" name="Google Shape;178;p19"/>
          <p:cNvSpPr txBox="1"/>
          <p:nvPr/>
        </p:nvSpPr>
        <p:spPr>
          <a:xfrm>
            <a:off x="302319" y="2173417"/>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pic>
        <p:nvPicPr>
          <p:cNvPr id="179" name="Google Shape;179;p19"/>
          <p:cNvPicPr preferRelativeResize="0"/>
          <p:nvPr/>
        </p:nvPicPr>
        <p:blipFill>
          <a:blip r:embed="rId6">
            <a:alphaModFix/>
          </a:blip>
          <a:stretch>
            <a:fillRect/>
          </a:stretch>
        </p:blipFill>
        <p:spPr>
          <a:xfrm>
            <a:off x="565095" y="4602132"/>
            <a:ext cx="7129994" cy="2048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pic>
        <p:nvPicPr>
          <p:cNvPr descr="image.png" id="184" name="Google Shape;184;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5" name="Google Shape;185;p20"/>
          <p:cNvSpPr txBox="1"/>
          <p:nvPr/>
        </p:nvSpPr>
        <p:spPr>
          <a:xfrm>
            <a:off x="7637712" y="2447925"/>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64E3B"/>
                </a:solidFill>
                <a:latin typeface="Montserrat"/>
                <a:ea typeface="Montserrat"/>
                <a:cs typeface="Montserrat"/>
                <a:sym typeface="Montserrat"/>
              </a:rPr>
              <a:t>Efficiency &amp; Cleaning</a:t>
            </a:r>
            <a:endParaRPr/>
          </a:p>
        </p:txBody>
      </p:sp>
      <p:sp>
        <p:nvSpPr>
          <p:cNvPr id="186" name="Google Shape;186;p20"/>
          <p:cNvSpPr txBox="1"/>
          <p:nvPr/>
        </p:nvSpPr>
        <p:spPr>
          <a:xfrm>
            <a:off x="7467679" y="2819400"/>
            <a:ext cx="5286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To ensure the app remains ready and responsive:</a:t>
            </a:r>
            <a:endParaRPr/>
          </a:p>
        </p:txBody>
      </p:sp>
      <p:sp>
        <p:nvSpPr>
          <p:cNvPr id="187" name="Google Shape;187;p20"/>
          <p:cNvSpPr txBox="1"/>
          <p:nvPr/>
        </p:nvSpPr>
        <p:spPr>
          <a:xfrm>
            <a:off x="7517350" y="3124357"/>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188" name="Google Shape;188;p20"/>
          <p:cNvSpPr txBox="1"/>
          <p:nvPr/>
        </p:nvSpPr>
        <p:spPr>
          <a:xfrm>
            <a:off x="7697538" y="3124515"/>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Used </a:t>
            </a:r>
            <a:r>
              <a:rPr b="1" i="0" lang="en-US" sz="1200" u="none" cap="none" strike="noStrike">
                <a:solidFill>
                  <a:srgbClr val="000000"/>
                </a:solidFill>
                <a:latin typeface="Inter"/>
                <a:ea typeface="Inter"/>
                <a:cs typeface="Inter"/>
                <a:sym typeface="Inter"/>
              </a:rPr>
              <a:t>vroom</a:t>
            </a:r>
            <a:r>
              <a:rPr b="0" i="0" lang="en-US" sz="1200" u="none" cap="none" strike="noStrike">
                <a:solidFill>
                  <a:srgbClr val="000000"/>
                </a:solidFill>
                <a:latin typeface="Inter"/>
                <a:ea typeface="Inter"/>
                <a:cs typeface="Inter"/>
                <a:sym typeface="Inter"/>
              </a:rPr>
              <a:t> for fast indexed reading.</a:t>
            </a:r>
            <a:endParaRPr/>
          </a:p>
        </p:txBody>
      </p:sp>
      <p:sp>
        <p:nvSpPr>
          <p:cNvPr id="189" name="Google Shape;189;p20"/>
          <p:cNvSpPr txBox="1"/>
          <p:nvPr/>
        </p:nvSpPr>
        <p:spPr>
          <a:xfrm>
            <a:off x="7517350" y="3352643"/>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190" name="Google Shape;190;p20"/>
          <p:cNvSpPr txBox="1"/>
          <p:nvPr/>
        </p:nvSpPr>
        <p:spPr>
          <a:xfrm>
            <a:off x="7716431" y="3352800"/>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Filtered data to 2020+ to focus on recent trends.</a:t>
            </a:r>
            <a:endParaRPr/>
          </a:p>
        </p:txBody>
      </p:sp>
      <p:sp>
        <p:nvSpPr>
          <p:cNvPr id="191" name="Google Shape;191;p20"/>
          <p:cNvSpPr txBox="1"/>
          <p:nvPr/>
        </p:nvSpPr>
        <p:spPr>
          <a:xfrm>
            <a:off x="7517350" y="3562035"/>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192" name="Google Shape;192;p20"/>
          <p:cNvSpPr txBox="1"/>
          <p:nvPr/>
        </p:nvSpPr>
        <p:spPr>
          <a:xfrm>
            <a:off x="7716431" y="3562193"/>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Handled missing values using !is.na().</a:t>
            </a:r>
            <a:endParaRPr/>
          </a:p>
        </p:txBody>
      </p:sp>
      <p:sp>
        <p:nvSpPr>
          <p:cNvPr id="193" name="Google Shape;193;p20"/>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Technical Methodology</a:t>
            </a:r>
            <a:endParaRPr/>
          </a:p>
        </p:txBody>
      </p:sp>
      <p:sp>
        <p:nvSpPr>
          <p:cNvPr id="194" name="Google Shape;194;p20"/>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95" name="Google Shape;195;p20"/>
          <p:cNvPicPr preferRelativeResize="0"/>
          <p:nvPr/>
        </p:nvPicPr>
        <p:blipFill>
          <a:blip r:embed="rId4">
            <a:alphaModFix/>
          </a:blip>
          <a:stretch>
            <a:fillRect/>
          </a:stretch>
        </p:blipFill>
        <p:spPr>
          <a:xfrm>
            <a:off x="283400" y="1536323"/>
            <a:ext cx="6782424" cy="49249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9" name="Shape 199"/>
        <p:cNvGrpSpPr/>
        <p:nvPr/>
      </p:nvGrpSpPr>
      <p:grpSpPr>
        <a:xfrm>
          <a:off x="0" y="0"/>
          <a:ext cx="0" cy="0"/>
          <a:chOff x="0" y="0"/>
          <a:chExt cx="0" cy="0"/>
        </a:xfrm>
      </p:grpSpPr>
      <p:sp>
        <p:nvSpPr>
          <p:cNvPr id="200" name="Google Shape;200;p21"/>
          <p:cNvSpPr txBox="1"/>
          <p:nvPr/>
        </p:nvSpPr>
        <p:spPr>
          <a:xfrm>
            <a:off x="647700" y="2262074"/>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64E3B"/>
                </a:solidFill>
                <a:latin typeface="Montserrat"/>
                <a:ea typeface="Montserrat"/>
                <a:cs typeface="Montserrat"/>
                <a:sym typeface="Montserrat"/>
              </a:rPr>
              <a:t>Long Format Conversion</a:t>
            </a:r>
            <a:endParaRPr/>
          </a:p>
        </p:txBody>
      </p:sp>
      <p:sp>
        <p:nvSpPr>
          <p:cNvPr id="201" name="Google Shape;201;p21"/>
          <p:cNvSpPr txBox="1"/>
          <p:nvPr/>
        </p:nvSpPr>
        <p:spPr>
          <a:xfrm>
            <a:off x="571500" y="2819400"/>
            <a:ext cx="34149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To visualize multiple pollutants in Shiny, we transformed the data from "Wide" to "Long" using pivot_longer().</a:t>
            </a:r>
            <a:endParaRPr/>
          </a:p>
        </p:txBody>
      </p:sp>
      <p:sp>
        <p:nvSpPr>
          <p:cNvPr id="202" name="Google Shape;202;p21"/>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Tidy Data Transformation</a:t>
            </a:r>
            <a:endParaRPr/>
          </a:p>
        </p:txBody>
      </p:sp>
      <p:sp>
        <p:nvSpPr>
          <p:cNvPr id="203" name="Google Shape;203;p21"/>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04" name="Google Shape;204;p21"/>
          <p:cNvPicPr preferRelativeResize="0"/>
          <p:nvPr/>
        </p:nvPicPr>
        <p:blipFill>
          <a:blip r:embed="rId4">
            <a:alphaModFix/>
          </a:blip>
          <a:stretch>
            <a:fillRect/>
          </a:stretch>
        </p:blipFill>
        <p:spPr>
          <a:xfrm>
            <a:off x="4083988" y="2667000"/>
            <a:ext cx="7966272" cy="3343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pic>
        <p:nvPicPr>
          <p:cNvPr descr="image.png" id="209" name="Google Shape;209;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0" name="Google Shape;210;p22"/>
          <p:cNvPicPr preferRelativeResize="0"/>
          <p:nvPr/>
        </p:nvPicPr>
        <p:blipFill rotWithShape="1">
          <a:blip r:embed="rId4">
            <a:alphaModFix/>
          </a:blip>
          <a:srcRect b="0" l="0" r="0" t="0"/>
          <a:stretch/>
        </p:blipFill>
        <p:spPr>
          <a:xfrm>
            <a:off x="571500" y="1812375"/>
            <a:ext cx="5286375" cy="4101000"/>
          </a:xfrm>
          <a:prstGeom prst="rect">
            <a:avLst/>
          </a:prstGeom>
          <a:noFill/>
          <a:ln>
            <a:noFill/>
          </a:ln>
        </p:spPr>
      </p:pic>
      <p:sp>
        <p:nvSpPr>
          <p:cNvPr id="211" name="Google Shape;211;p22"/>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Shiny App Architecture</a:t>
            </a:r>
            <a:endParaRPr/>
          </a:p>
        </p:txBody>
      </p:sp>
      <p:sp>
        <p:nvSpPr>
          <p:cNvPr id="212" name="Google Shape;212;p22"/>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13" name="Google Shape;213;p22"/>
          <p:cNvPicPr preferRelativeResize="0"/>
          <p:nvPr/>
        </p:nvPicPr>
        <p:blipFill>
          <a:blip r:embed="rId5">
            <a:alphaModFix/>
          </a:blip>
          <a:stretch>
            <a:fillRect/>
          </a:stretch>
        </p:blipFill>
        <p:spPr>
          <a:xfrm>
            <a:off x="7603850" y="145200"/>
            <a:ext cx="3882800" cy="6567601"/>
          </a:xfrm>
          <a:prstGeom prst="rect">
            <a:avLst/>
          </a:prstGeom>
          <a:noFill/>
          <a:ln>
            <a:noFill/>
          </a:ln>
        </p:spPr>
      </p:pic>
      <p:sp>
        <p:nvSpPr>
          <p:cNvPr id="214" name="Google Shape;214;p22"/>
          <p:cNvSpPr txBox="1"/>
          <p:nvPr/>
        </p:nvSpPr>
        <p:spPr>
          <a:xfrm>
            <a:off x="647700" y="1403350"/>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Dashboard User Interface (UI) Design</a:t>
            </a:r>
            <a:r>
              <a:rPr b="1" lang="en-US" sz="1404">
                <a:solidFill>
                  <a:srgbClr val="064E3B"/>
                </a:solidFill>
                <a:latin typeface="Montserrat"/>
                <a:ea typeface="Montserrat"/>
                <a:cs typeface="Montserrat"/>
                <a:sym typeface="Montserrat"/>
              </a:rPr>
              <a:t> </a:t>
            </a:r>
            <a:endParaRPr/>
          </a:p>
        </p:txBody>
      </p:sp>
      <p:sp>
        <p:nvSpPr>
          <p:cNvPr id="215" name="Google Shape;215;p22"/>
          <p:cNvSpPr txBox="1"/>
          <p:nvPr/>
        </p:nvSpPr>
        <p:spPr>
          <a:xfrm>
            <a:off x="1057975" y="2021500"/>
            <a:ext cx="4496400" cy="351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200">
                <a:solidFill>
                  <a:schemeClr val="dk1"/>
                </a:solidFill>
                <a:latin typeface="Inter"/>
                <a:ea typeface="Inter"/>
                <a:cs typeface="Inter"/>
                <a:sym typeface="Inter"/>
              </a:rPr>
              <a:t>Design Framework:</a:t>
            </a:r>
            <a:r>
              <a:rPr lang="en-US" sz="1200">
                <a:solidFill>
                  <a:schemeClr val="dk1"/>
                </a:solidFill>
                <a:latin typeface="Inter"/>
                <a:ea typeface="Inter"/>
                <a:cs typeface="Inter"/>
                <a:sym typeface="Inter"/>
              </a:rPr>
              <a:t> Built using </a:t>
            </a:r>
            <a:r>
              <a:rPr lang="en-US" sz="1200">
                <a:solidFill>
                  <a:srgbClr val="188038"/>
                </a:solidFill>
                <a:latin typeface="Inter"/>
                <a:ea typeface="Inter"/>
                <a:cs typeface="Inter"/>
                <a:sym typeface="Inter"/>
              </a:rPr>
              <a:t>bslib</a:t>
            </a:r>
            <a:r>
              <a:rPr lang="en-US" sz="1200">
                <a:solidFill>
                  <a:schemeClr val="dk1"/>
                </a:solidFill>
                <a:latin typeface="Inter"/>
                <a:ea typeface="Inter"/>
                <a:cs typeface="Inter"/>
                <a:sym typeface="Inter"/>
              </a:rPr>
              <a:t> with the flatly theme for a modern, clean, and intuitive aesthetic.</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200">
                <a:solidFill>
                  <a:schemeClr val="dk1"/>
                </a:solidFill>
                <a:latin typeface="Inter"/>
                <a:ea typeface="Inter"/>
                <a:cs typeface="Inter"/>
                <a:sym typeface="Inter"/>
              </a:rPr>
              <a:t>Sidebar Controls:</a:t>
            </a:r>
            <a:r>
              <a:rPr lang="en-US" sz="1200">
                <a:solidFill>
                  <a:schemeClr val="dk1"/>
                </a:solidFill>
                <a:latin typeface="Inter"/>
                <a:ea typeface="Inter"/>
                <a:cs typeface="Inter"/>
                <a:sym typeface="Inter"/>
              </a:rPr>
              <a:t> Centralized input controls (</a:t>
            </a:r>
            <a:r>
              <a:rPr lang="en-US" sz="1200">
                <a:solidFill>
                  <a:srgbClr val="188038"/>
                </a:solidFill>
                <a:latin typeface="Inter"/>
                <a:ea typeface="Inter"/>
                <a:cs typeface="Inter"/>
                <a:sym typeface="Inter"/>
              </a:rPr>
              <a:t>selectInput</a:t>
            </a:r>
            <a:r>
              <a:rPr lang="en-US" sz="1200">
                <a:solidFill>
                  <a:schemeClr val="dk1"/>
                </a:solidFill>
                <a:latin typeface="Inter"/>
                <a:ea typeface="Inter"/>
                <a:cs typeface="Inter"/>
                <a:sym typeface="Inter"/>
              </a:rPr>
              <a:t>, </a:t>
            </a:r>
            <a:r>
              <a:rPr lang="en-US" sz="1200">
                <a:solidFill>
                  <a:srgbClr val="188038"/>
                </a:solidFill>
                <a:latin typeface="Inter"/>
                <a:ea typeface="Inter"/>
                <a:cs typeface="Inter"/>
                <a:sym typeface="Inter"/>
              </a:rPr>
              <a:t>sliderInput</a:t>
            </a:r>
            <a:r>
              <a:rPr lang="en-US" sz="1200">
                <a:solidFill>
                  <a:schemeClr val="dk1"/>
                </a:solidFill>
                <a:latin typeface="Inter"/>
                <a:ea typeface="Inter"/>
                <a:cs typeface="Inter"/>
                <a:sym typeface="Inter"/>
              </a:rPr>
              <a:t>) allow users to manipulate data filters and forecasting parameters in real-time.</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200">
                <a:solidFill>
                  <a:schemeClr val="dk1"/>
                </a:solidFill>
                <a:latin typeface="Inter"/>
                <a:ea typeface="Inter"/>
                <a:cs typeface="Inter"/>
                <a:sym typeface="Inter"/>
              </a:rPr>
              <a:t>Metrics:</a:t>
            </a:r>
            <a:r>
              <a:rPr lang="en-US" sz="1200">
                <a:solidFill>
                  <a:schemeClr val="dk1"/>
                </a:solidFill>
                <a:latin typeface="Inter"/>
                <a:ea typeface="Inter"/>
                <a:cs typeface="Inter"/>
                <a:sym typeface="Inter"/>
              </a:rPr>
              <a:t> </a:t>
            </a:r>
            <a:r>
              <a:rPr lang="en-US" sz="1200">
                <a:solidFill>
                  <a:srgbClr val="188038"/>
                </a:solidFill>
                <a:latin typeface="Inter"/>
                <a:ea typeface="Inter"/>
                <a:cs typeface="Inter"/>
                <a:sym typeface="Inter"/>
              </a:rPr>
              <a:t>value_box</a:t>
            </a:r>
            <a:r>
              <a:rPr lang="en-US" sz="1200">
                <a:solidFill>
                  <a:schemeClr val="dk1"/>
                </a:solidFill>
                <a:latin typeface="Inter"/>
                <a:ea typeface="Inter"/>
                <a:cs typeface="Inter"/>
                <a:sym typeface="Inter"/>
              </a:rPr>
              <a:t> components provide instant visual feedback on the selected site, variable, and active model.</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200">
                <a:solidFill>
                  <a:schemeClr val="dk1"/>
                </a:solidFill>
                <a:latin typeface="Inter"/>
                <a:ea typeface="Inter"/>
                <a:cs typeface="Inter"/>
                <a:sym typeface="Inter"/>
              </a:rPr>
              <a:t>Tabbed Navigation:</a:t>
            </a:r>
            <a:r>
              <a:rPr lang="en-US" sz="1200">
                <a:solidFill>
                  <a:schemeClr val="dk1"/>
                </a:solidFill>
                <a:latin typeface="Inter"/>
                <a:ea typeface="Inter"/>
                <a:cs typeface="Inter"/>
                <a:sym typeface="Inter"/>
              </a:rPr>
              <a:t> Used </a:t>
            </a:r>
            <a:r>
              <a:rPr lang="en-US" sz="1200">
                <a:solidFill>
                  <a:srgbClr val="188038"/>
                </a:solidFill>
                <a:latin typeface="Inter"/>
                <a:ea typeface="Inter"/>
                <a:cs typeface="Inter"/>
                <a:sym typeface="Inter"/>
              </a:rPr>
              <a:t>navset_card_tab</a:t>
            </a:r>
            <a:r>
              <a:rPr lang="en-US" sz="1200">
                <a:solidFill>
                  <a:schemeClr val="dk1"/>
                </a:solidFill>
                <a:latin typeface="Inter"/>
                <a:ea typeface="Inter"/>
                <a:cs typeface="Inter"/>
                <a:sym typeface="Inter"/>
              </a:rPr>
              <a:t> to compartmentalize functionality, separating Exploratory Data Analysis from Forecasting and Model Accuracy.</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6" name="Google Shape;216;p22"/>
          <p:cNvSpPr txBox="1"/>
          <p:nvPr/>
        </p:nvSpPr>
        <p:spPr>
          <a:xfrm>
            <a:off x="769100" y="2092700"/>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17" name="Google Shape;217;p22"/>
          <p:cNvSpPr txBox="1"/>
          <p:nvPr/>
        </p:nvSpPr>
        <p:spPr>
          <a:xfrm>
            <a:off x="770360" y="2849662"/>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18" name="Google Shape;218;p22"/>
          <p:cNvSpPr txBox="1"/>
          <p:nvPr/>
        </p:nvSpPr>
        <p:spPr>
          <a:xfrm>
            <a:off x="771619" y="3738872"/>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19" name="Google Shape;219;p22"/>
          <p:cNvSpPr txBox="1"/>
          <p:nvPr/>
        </p:nvSpPr>
        <p:spPr>
          <a:xfrm>
            <a:off x="810664" y="4514726"/>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pic>
        <p:nvPicPr>
          <p:cNvPr descr="image.png" id="224" name="Google Shape;224;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5" name="Google Shape;225;p23"/>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Shiny App Architecture</a:t>
            </a:r>
            <a:endParaRPr/>
          </a:p>
        </p:txBody>
      </p:sp>
      <p:sp>
        <p:nvSpPr>
          <p:cNvPr id="226" name="Google Shape;226;p23"/>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27" name="Google Shape;227;p23"/>
          <p:cNvPicPr preferRelativeResize="0"/>
          <p:nvPr/>
        </p:nvPicPr>
        <p:blipFill>
          <a:blip r:embed="rId4">
            <a:alphaModFix/>
          </a:blip>
          <a:stretch>
            <a:fillRect/>
          </a:stretch>
        </p:blipFill>
        <p:spPr>
          <a:xfrm>
            <a:off x="-28500" y="0"/>
            <a:ext cx="12192000"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pic>
        <p:nvPicPr>
          <p:cNvPr descr="image.png" id="232" name="Google Shape;232;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3" name="Google Shape;233;p24"/>
          <p:cNvSpPr txBox="1"/>
          <p:nvPr/>
        </p:nvSpPr>
        <p:spPr>
          <a:xfrm>
            <a:off x="571500" y="2080076"/>
            <a:ext cx="5286300" cy="147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latin typeface="Inter"/>
                <a:ea typeface="Inter"/>
                <a:cs typeface="Inter"/>
                <a:sym typeface="Inter"/>
              </a:rPr>
              <a:t>Our app allows you to visualise and compare  trends from two </a:t>
            </a:r>
            <a:r>
              <a:rPr lang="en-US" sz="1200">
                <a:latin typeface="Inter"/>
                <a:ea typeface="Inter"/>
                <a:cs typeface="Inter"/>
                <a:sym typeface="Inter"/>
              </a:rPr>
              <a:t>different</a:t>
            </a:r>
            <a:r>
              <a:rPr lang="en-US" sz="1200">
                <a:latin typeface="Inter"/>
                <a:ea typeface="Inter"/>
                <a:cs typeface="Inter"/>
                <a:sym typeface="Inter"/>
              </a:rPr>
              <a:t> sites  </a:t>
            </a:r>
            <a:endParaRPr sz="1200">
              <a:latin typeface="Inter"/>
              <a:ea typeface="Inter"/>
              <a:cs typeface="Inter"/>
              <a:sym typeface="Inter"/>
            </a:endParaRPr>
          </a:p>
          <a:p>
            <a:pPr indent="0" lvl="0" marL="0" marR="0" rtl="0" algn="l">
              <a:spcBef>
                <a:spcPts val="0"/>
              </a:spcBef>
              <a:spcAft>
                <a:spcPts val="0"/>
              </a:spcAft>
              <a:buNone/>
            </a:pPr>
            <a:r>
              <a:t/>
            </a:r>
            <a:endParaRPr sz="1200">
              <a:latin typeface="Inter"/>
              <a:ea typeface="Inter"/>
              <a:cs typeface="Inter"/>
              <a:sym typeface="Inter"/>
            </a:endParaRPr>
          </a:p>
          <a:p>
            <a:pPr indent="0" lvl="0" marL="0" marR="0" rtl="0" algn="l">
              <a:spcBef>
                <a:spcPts val="0"/>
              </a:spcBef>
              <a:spcAft>
                <a:spcPts val="0"/>
              </a:spcAft>
              <a:buNone/>
            </a:pPr>
            <a:r>
              <a:rPr lang="en-US" sz="1200">
                <a:latin typeface="Inter"/>
                <a:ea typeface="Inter"/>
                <a:cs typeface="Inter"/>
                <a:sym typeface="Inter"/>
              </a:rPr>
              <a:t>Here you can see the NO2 trend from and urban area (Manchester Piccadilly) and a rural area (Walsall Woodlands)</a:t>
            </a:r>
            <a:endParaRPr sz="1200">
              <a:latin typeface="Inter"/>
              <a:ea typeface="Inter"/>
              <a:cs typeface="Inter"/>
              <a:sym typeface="Inter"/>
            </a:endParaRPr>
          </a:p>
          <a:p>
            <a:pPr indent="0" lvl="0" marL="0" marR="0" rtl="0" algn="l">
              <a:spcBef>
                <a:spcPts val="0"/>
              </a:spcBef>
              <a:spcAft>
                <a:spcPts val="0"/>
              </a:spcAft>
              <a:buNone/>
            </a:pPr>
            <a:r>
              <a:t/>
            </a:r>
            <a:endParaRPr sz="1200">
              <a:latin typeface="Inter"/>
              <a:ea typeface="Inter"/>
              <a:cs typeface="Inter"/>
              <a:sym typeface="Inter"/>
            </a:endParaRPr>
          </a:p>
          <a:p>
            <a:pPr indent="0" lvl="0" marL="0" marR="0" rtl="0" algn="l">
              <a:spcBef>
                <a:spcPts val="0"/>
              </a:spcBef>
              <a:spcAft>
                <a:spcPts val="0"/>
              </a:spcAft>
              <a:buNone/>
            </a:pPr>
            <a:r>
              <a:rPr lang="en-US" sz="1200">
                <a:latin typeface="Inter"/>
                <a:ea typeface="Inter"/>
                <a:cs typeface="Inter"/>
                <a:sym typeface="Inter"/>
              </a:rPr>
              <a:t>You can also see how NO2 levels spike in the winter and tend to be at </a:t>
            </a:r>
            <a:r>
              <a:rPr lang="en-US" sz="1200">
                <a:latin typeface="Inter"/>
                <a:ea typeface="Inter"/>
                <a:cs typeface="Inter"/>
                <a:sym typeface="Inter"/>
              </a:rPr>
              <a:t>their</a:t>
            </a:r>
            <a:r>
              <a:rPr lang="en-US" sz="1200">
                <a:latin typeface="Inter"/>
                <a:ea typeface="Inter"/>
                <a:cs typeface="Inter"/>
                <a:sym typeface="Inter"/>
              </a:rPr>
              <a:t> lowest in summer</a:t>
            </a:r>
            <a:endParaRPr sz="1200">
              <a:latin typeface="Inter"/>
              <a:ea typeface="Inter"/>
              <a:cs typeface="Inter"/>
              <a:sym typeface="Inter"/>
            </a:endParaRPr>
          </a:p>
        </p:txBody>
      </p:sp>
      <p:sp>
        <p:nvSpPr>
          <p:cNvPr id="234" name="Google Shape;234;p24"/>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Results: Observed Trends</a:t>
            </a:r>
            <a:endParaRPr/>
          </a:p>
        </p:txBody>
      </p:sp>
      <p:sp>
        <p:nvSpPr>
          <p:cNvPr id="235" name="Google Shape;235;p24"/>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36" name="Google Shape;236;p24"/>
          <p:cNvPicPr preferRelativeResize="0"/>
          <p:nvPr/>
        </p:nvPicPr>
        <p:blipFill>
          <a:blip r:embed="rId4">
            <a:alphaModFix/>
          </a:blip>
          <a:stretch>
            <a:fillRect/>
          </a:stretch>
        </p:blipFill>
        <p:spPr>
          <a:xfrm>
            <a:off x="153575" y="3863525"/>
            <a:ext cx="11884826" cy="2755970"/>
          </a:xfrm>
          <a:prstGeom prst="rect">
            <a:avLst/>
          </a:prstGeom>
          <a:noFill/>
          <a:ln>
            <a:noFill/>
          </a:ln>
        </p:spPr>
      </p:pic>
      <p:sp>
        <p:nvSpPr>
          <p:cNvPr id="237" name="Google Shape;237;p24"/>
          <p:cNvSpPr txBox="1"/>
          <p:nvPr/>
        </p:nvSpPr>
        <p:spPr>
          <a:xfrm>
            <a:off x="591022" y="1651218"/>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Site Comparison </a:t>
            </a:r>
            <a:r>
              <a:rPr b="1" lang="en-US" sz="1404">
                <a:solidFill>
                  <a:srgbClr val="064E3B"/>
                </a:solidFill>
                <a:latin typeface="Montserrat"/>
                <a:ea typeface="Montserrat"/>
                <a:cs typeface="Montserrat"/>
                <a:sym typeface="Montserrat"/>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pic>
        <p:nvPicPr>
          <p:cNvPr descr="image.png" id="242" name="Google Shape;242;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3" name="Google Shape;243;p25"/>
          <p:cNvSpPr txBox="1"/>
          <p:nvPr/>
        </p:nvSpPr>
        <p:spPr>
          <a:xfrm>
            <a:off x="629875" y="1873175"/>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64E3B"/>
                </a:solidFill>
                <a:latin typeface="Montserrat"/>
                <a:ea typeface="Montserrat"/>
                <a:cs typeface="Montserrat"/>
                <a:sym typeface="Montserrat"/>
              </a:rPr>
              <a:t>Isolating Seasonality</a:t>
            </a:r>
            <a:endParaRPr/>
          </a:p>
        </p:txBody>
      </p:sp>
      <p:sp>
        <p:nvSpPr>
          <p:cNvPr id="244" name="Google Shape;244;p25"/>
          <p:cNvSpPr txBox="1"/>
          <p:nvPr/>
        </p:nvSpPr>
        <p:spPr>
          <a:xfrm>
            <a:off x="571500" y="2551875"/>
            <a:ext cx="5286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Using stl(), we separate the data into:</a:t>
            </a:r>
            <a:endParaRPr/>
          </a:p>
        </p:txBody>
      </p:sp>
      <p:sp>
        <p:nvSpPr>
          <p:cNvPr id="245" name="Google Shape;245;p25"/>
          <p:cNvSpPr txBox="1"/>
          <p:nvPr/>
        </p:nvSpPr>
        <p:spPr>
          <a:xfrm>
            <a:off x="866775" y="2973246"/>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46" name="Google Shape;246;p25"/>
          <p:cNvSpPr txBox="1"/>
          <p:nvPr/>
        </p:nvSpPr>
        <p:spPr>
          <a:xfrm>
            <a:off x="952538" y="2965988"/>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1" i="0" lang="en-US" sz="1200" u="none" cap="none" strike="noStrike">
                <a:solidFill>
                  <a:srgbClr val="000000"/>
                </a:solidFill>
                <a:latin typeface="Inter"/>
                <a:ea typeface="Inter"/>
                <a:cs typeface="Inter"/>
                <a:sym typeface="Inter"/>
              </a:rPr>
              <a:t>Trend:</a:t>
            </a:r>
            <a:r>
              <a:rPr b="0" i="0" lang="en-US" sz="1200" u="none" cap="none" strike="noStrike">
                <a:solidFill>
                  <a:srgbClr val="000000"/>
                </a:solidFill>
                <a:latin typeface="Inter"/>
                <a:ea typeface="Inter"/>
                <a:cs typeface="Inter"/>
                <a:sym typeface="Inter"/>
              </a:rPr>
              <a:t> The overall direction.</a:t>
            </a:r>
            <a:endParaRPr/>
          </a:p>
        </p:txBody>
      </p:sp>
      <p:sp>
        <p:nvSpPr>
          <p:cNvPr id="247" name="Google Shape;247;p25"/>
          <p:cNvSpPr txBox="1"/>
          <p:nvPr/>
        </p:nvSpPr>
        <p:spPr>
          <a:xfrm>
            <a:off x="866775" y="3217605"/>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48" name="Google Shape;248;p25"/>
          <p:cNvSpPr txBox="1"/>
          <p:nvPr/>
        </p:nvSpPr>
        <p:spPr>
          <a:xfrm>
            <a:off x="952500" y="3232841"/>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1" i="0" lang="en-US" sz="1200" u="none" cap="none" strike="noStrike">
                <a:solidFill>
                  <a:srgbClr val="000000"/>
                </a:solidFill>
                <a:latin typeface="Inter"/>
                <a:ea typeface="Inter"/>
                <a:cs typeface="Inter"/>
                <a:sym typeface="Inter"/>
              </a:rPr>
              <a:t>Seasonal:</a:t>
            </a:r>
            <a:r>
              <a:rPr b="0" i="0" lang="en-US" sz="1200" u="none" cap="none" strike="noStrike">
                <a:solidFill>
                  <a:srgbClr val="000000"/>
                </a:solidFill>
                <a:latin typeface="Inter"/>
                <a:ea typeface="Inter"/>
                <a:cs typeface="Inter"/>
                <a:sym typeface="Inter"/>
              </a:rPr>
              <a:t> The repeating cycle.</a:t>
            </a:r>
            <a:endParaRPr/>
          </a:p>
        </p:txBody>
      </p:sp>
      <p:sp>
        <p:nvSpPr>
          <p:cNvPr id="249" name="Google Shape;249;p25"/>
          <p:cNvSpPr txBox="1"/>
          <p:nvPr/>
        </p:nvSpPr>
        <p:spPr>
          <a:xfrm>
            <a:off x="866775" y="3515822"/>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50" name="Google Shape;250;p25"/>
          <p:cNvSpPr txBox="1"/>
          <p:nvPr/>
        </p:nvSpPr>
        <p:spPr>
          <a:xfrm>
            <a:off x="952500" y="3516919"/>
            <a:ext cx="4905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1" i="0" lang="en-US" sz="1200" u="none" cap="none" strike="noStrike">
                <a:solidFill>
                  <a:srgbClr val="000000"/>
                </a:solidFill>
                <a:latin typeface="Inter"/>
                <a:ea typeface="Inter"/>
                <a:cs typeface="Inter"/>
                <a:sym typeface="Inter"/>
              </a:rPr>
              <a:t>Remainder:</a:t>
            </a:r>
            <a:r>
              <a:rPr b="0" i="0" lang="en-US" sz="1200" u="none" cap="none" strike="noStrike">
                <a:solidFill>
                  <a:srgbClr val="000000"/>
                </a:solidFill>
                <a:latin typeface="Inter"/>
                <a:ea typeface="Inter"/>
                <a:cs typeface="Inter"/>
                <a:sym typeface="Inter"/>
              </a:rPr>
              <a:t> Random noise.</a:t>
            </a:r>
            <a:endParaRPr/>
          </a:p>
        </p:txBody>
      </p:sp>
      <p:sp>
        <p:nvSpPr>
          <p:cNvPr id="251" name="Google Shape;251;p25"/>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Results: Decomposition</a:t>
            </a:r>
            <a:endParaRPr/>
          </a:p>
        </p:txBody>
      </p:sp>
      <p:sp>
        <p:nvSpPr>
          <p:cNvPr id="252" name="Google Shape;252;p25"/>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53" name="Google Shape;253;p25"/>
          <p:cNvPicPr preferRelativeResize="0"/>
          <p:nvPr/>
        </p:nvPicPr>
        <p:blipFill>
          <a:blip r:embed="rId4">
            <a:alphaModFix/>
          </a:blip>
          <a:stretch>
            <a:fillRect/>
          </a:stretch>
        </p:blipFill>
        <p:spPr>
          <a:xfrm>
            <a:off x="952500" y="3971610"/>
            <a:ext cx="10483475" cy="2785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pic>
        <p:nvPicPr>
          <p:cNvPr descr="image.png" id="258" name="Google Shape;258;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9" name="Google Shape;259;p26"/>
          <p:cNvSpPr txBox="1"/>
          <p:nvPr/>
        </p:nvSpPr>
        <p:spPr>
          <a:xfrm>
            <a:off x="647700" y="1595425"/>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Naive </a:t>
            </a:r>
            <a:endParaRPr/>
          </a:p>
        </p:txBody>
      </p:sp>
      <p:sp>
        <p:nvSpPr>
          <p:cNvPr id="260" name="Google Shape;260;p26"/>
          <p:cNvSpPr txBox="1"/>
          <p:nvPr/>
        </p:nvSpPr>
        <p:spPr>
          <a:xfrm>
            <a:off x="647700" y="4289313"/>
            <a:ext cx="5286300" cy="40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1404">
                <a:solidFill>
                  <a:srgbClr val="064E3B"/>
                </a:solidFill>
                <a:latin typeface="Montserrat"/>
                <a:ea typeface="Montserrat"/>
                <a:cs typeface="Montserrat"/>
                <a:sym typeface="Montserrat"/>
              </a:rPr>
              <a:t>Seasonal </a:t>
            </a:r>
            <a:r>
              <a:rPr b="1" lang="en-US" sz="1404">
                <a:solidFill>
                  <a:srgbClr val="064E3B"/>
                </a:solidFill>
                <a:latin typeface="Montserrat"/>
                <a:ea typeface="Montserrat"/>
                <a:cs typeface="Montserrat"/>
                <a:sym typeface="Montserrat"/>
              </a:rPr>
              <a:t>naive </a:t>
            </a:r>
            <a:endParaRPr>
              <a:solidFill>
                <a:schemeClr val="dk1"/>
              </a:solidFill>
            </a:endParaRPr>
          </a:p>
          <a:p>
            <a:pPr indent="0" lvl="0" marL="0" marR="0" rtl="0" algn="l">
              <a:spcBef>
                <a:spcPts val="0"/>
              </a:spcBef>
              <a:spcAft>
                <a:spcPts val="0"/>
              </a:spcAft>
              <a:buNone/>
            </a:pPr>
            <a:r>
              <a:t/>
            </a:r>
            <a:endParaRPr sz="1200">
              <a:latin typeface="Inter"/>
              <a:ea typeface="Inter"/>
              <a:cs typeface="Inter"/>
              <a:sym typeface="Inter"/>
            </a:endParaRPr>
          </a:p>
        </p:txBody>
      </p:sp>
      <p:sp>
        <p:nvSpPr>
          <p:cNvPr id="261" name="Google Shape;261;p26"/>
          <p:cNvSpPr txBox="1"/>
          <p:nvPr/>
        </p:nvSpPr>
        <p:spPr>
          <a:xfrm>
            <a:off x="647700" y="5306275"/>
            <a:ext cx="5286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T</a:t>
            </a:r>
            <a:r>
              <a:rPr lang="en-US" sz="1200">
                <a:latin typeface="Inter"/>
                <a:ea typeface="Inter"/>
                <a:cs typeface="Inter"/>
                <a:sym typeface="Inter"/>
              </a:rPr>
              <a:t>b</a:t>
            </a:r>
            <a:endParaRPr/>
          </a:p>
        </p:txBody>
      </p:sp>
      <p:sp>
        <p:nvSpPr>
          <p:cNvPr id="262" name="Google Shape;262;p26"/>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Predictive Analysis: Baseline Models</a:t>
            </a:r>
            <a:endParaRPr/>
          </a:p>
        </p:txBody>
      </p:sp>
      <p:sp>
        <p:nvSpPr>
          <p:cNvPr id="263" name="Google Shape;263;p26"/>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64" name="Google Shape;264;p26"/>
          <p:cNvPicPr preferRelativeResize="0"/>
          <p:nvPr/>
        </p:nvPicPr>
        <p:blipFill>
          <a:blip r:embed="rId4">
            <a:alphaModFix/>
          </a:blip>
          <a:stretch>
            <a:fillRect/>
          </a:stretch>
        </p:blipFill>
        <p:spPr>
          <a:xfrm>
            <a:off x="472100" y="5198600"/>
            <a:ext cx="11401500" cy="1570800"/>
          </a:xfrm>
          <a:prstGeom prst="rect">
            <a:avLst/>
          </a:prstGeom>
          <a:noFill/>
          <a:ln>
            <a:noFill/>
          </a:ln>
        </p:spPr>
      </p:pic>
      <p:pic>
        <p:nvPicPr>
          <p:cNvPr id="265" name="Google Shape;265;p26"/>
          <p:cNvPicPr preferRelativeResize="0"/>
          <p:nvPr/>
        </p:nvPicPr>
        <p:blipFill>
          <a:blip r:embed="rId5">
            <a:alphaModFix/>
          </a:blip>
          <a:stretch>
            <a:fillRect/>
          </a:stretch>
        </p:blipFill>
        <p:spPr>
          <a:xfrm>
            <a:off x="472100" y="2481325"/>
            <a:ext cx="11401499" cy="1495250"/>
          </a:xfrm>
          <a:prstGeom prst="rect">
            <a:avLst/>
          </a:prstGeom>
          <a:noFill/>
          <a:ln>
            <a:noFill/>
          </a:ln>
        </p:spPr>
      </p:pic>
      <p:sp>
        <p:nvSpPr>
          <p:cNvPr id="266" name="Google Shape;266;p26"/>
          <p:cNvSpPr txBox="1"/>
          <p:nvPr/>
        </p:nvSpPr>
        <p:spPr>
          <a:xfrm>
            <a:off x="571500" y="1945975"/>
            <a:ext cx="4218900" cy="4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Inter"/>
                <a:ea typeface="Inter"/>
                <a:cs typeface="Inter"/>
                <a:sym typeface="Inter"/>
              </a:rPr>
              <a:t>Predicts today is the same as yesterday</a:t>
            </a:r>
            <a:endParaRPr sz="1200">
              <a:solidFill>
                <a:schemeClr val="dk1"/>
              </a:solidFill>
              <a:latin typeface="Inter"/>
              <a:ea typeface="Inter"/>
              <a:cs typeface="Inter"/>
              <a:sym typeface="Inter"/>
            </a:endParaRPr>
          </a:p>
        </p:txBody>
      </p:sp>
      <p:sp>
        <p:nvSpPr>
          <p:cNvPr id="267" name="Google Shape;267;p26"/>
          <p:cNvSpPr txBox="1"/>
          <p:nvPr/>
        </p:nvSpPr>
        <p:spPr>
          <a:xfrm>
            <a:off x="485712" y="2036022"/>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68" name="Google Shape;268;p26"/>
          <p:cNvSpPr txBox="1"/>
          <p:nvPr/>
        </p:nvSpPr>
        <p:spPr>
          <a:xfrm>
            <a:off x="485712" y="4851941"/>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69" name="Google Shape;269;p26"/>
          <p:cNvSpPr txBox="1"/>
          <p:nvPr/>
        </p:nvSpPr>
        <p:spPr>
          <a:xfrm>
            <a:off x="571500" y="4761894"/>
            <a:ext cx="4218900" cy="4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Inter"/>
                <a:ea typeface="Inter"/>
                <a:cs typeface="Inter"/>
                <a:sym typeface="Inter"/>
              </a:rPr>
              <a:t>Predicts today is the same as the same time last year</a:t>
            </a:r>
            <a:endParaRPr sz="1200">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pic>
        <p:nvPicPr>
          <p:cNvPr descr="image.png" id="274" name="Google Shape;274;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5" name="Google Shape;275;p27"/>
          <p:cNvSpPr txBox="1"/>
          <p:nvPr/>
        </p:nvSpPr>
        <p:spPr>
          <a:xfrm>
            <a:off x="647700" y="1889813"/>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64E3B"/>
                </a:solidFill>
                <a:latin typeface="Montserrat"/>
                <a:ea typeface="Montserrat"/>
                <a:cs typeface="Montserrat"/>
                <a:sym typeface="Montserrat"/>
              </a:rPr>
              <a:t>ARIMA Forecasting</a:t>
            </a:r>
            <a:endParaRPr/>
          </a:p>
        </p:txBody>
      </p:sp>
      <p:sp>
        <p:nvSpPr>
          <p:cNvPr id="276" name="Google Shape;276;p27"/>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Predictive Analysis: Advanced modelling </a:t>
            </a:r>
            <a:endParaRPr/>
          </a:p>
        </p:txBody>
      </p:sp>
      <p:sp>
        <p:nvSpPr>
          <p:cNvPr id="277" name="Google Shape;277;p27"/>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7"/>
          <p:cNvSpPr txBox="1"/>
          <p:nvPr/>
        </p:nvSpPr>
        <p:spPr>
          <a:xfrm>
            <a:off x="571500" y="2361662"/>
            <a:ext cx="4329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Inter"/>
                <a:ea typeface="Inter"/>
                <a:cs typeface="Inter"/>
                <a:sym typeface="Inter"/>
              </a:rPr>
              <a:t>Analyses the “memory” of the dataset </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rPr lang="en-US" sz="1200">
                <a:latin typeface="Inter"/>
                <a:ea typeface="Inter"/>
                <a:cs typeface="Inter"/>
                <a:sym typeface="Inter"/>
              </a:rPr>
              <a:t>Uses differencing to stabalise non-stationary trends</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rPr lang="en-US" sz="1200">
                <a:latin typeface="Inter"/>
                <a:ea typeface="Inter"/>
                <a:cs typeface="Inter"/>
                <a:sym typeface="Inter"/>
              </a:rPr>
              <a:t>Excels at capturing complex, non-linear </a:t>
            </a:r>
            <a:r>
              <a:rPr lang="en-US" sz="1200">
                <a:latin typeface="Inter"/>
                <a:ea typeface="Inter"/>
                <a:cs typeface="Inter"/>
                <a:sym typeface="Inter"/>
              </a:rPr>
              <a:t>dependencies</a:t>
            </a:r>
            <a:r>
              <a:rPr lang="en-US" sz="1200">
                <a:latin typeface="Inter"/>
                <a:ea typeface="Inter"/>
                <a:cs typeface="Inter"/>
                <a:sym typeface="Inter"/>
              </a:rPr>
              <a:t> </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p:txBody>
      </p:sp>
      <p:pic>
        <p:nvPicPr>
          <p:cNvPr id="279" name="Google Shape;279;p27"/>
          <p:cNvPicPr preferRelativeResize="0"/>
          <p:nvPr/>
        </p:nvPicPr>
        <p:blipFill>
          <a:blip r:embed="rId4">
            <a:alphaModFix/>
          </a:blip>
          <a:stretch>
            <a:fillRect/>
          </a:stretch>
        </p:blipFill>
        <p:spPr>
          <a:xfrm>
            <a:off x="170025" y="4255199"/>
            <a:ext cx="11802977" cy="1847100"/>
          </a:xfrm>
          <a:prstGeom prst="rect">
            <a:avLst/>
          </a:prstGeom>
          <a:noFill/>
          <a:ln>
            <a:noFill/>
          </a:ln>
        </p:spPr>
      </p:pic>
      <p:sp>
        <p:nvSpPr>
          <p:cNvPr id="280" name="Google Shape;280;p27"/>
          <p:cNvSpPr txBox="1"/>
          <p:nvPr/>
        </p:nvSpPr>
        <p:spPr>
          <a:xfrm>
            <a:off x="485712" y="2451658"/>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81" name="Google Shape;281;p27"/>
          <p:cNvSpPr txBox="1"/>
          <p:nvPr/>
        </p:nvSpPr>
        <p:spPr>
          <a:xfrm>
            <a:off x="486972" y="2811877"/>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82" name="Google Shape;282;p27"/>
          <p:cNvSpPr txBox="1"/>
          <p:nvPr/>
        </p:nvSpPr>
        <p:spPr>
          <a:xfrm>
            <a:off x="488231" y="3190987"/>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pic>
        <p:nvPicPr>
          <p:cNvPr descr="image.png" id="287" name="Google Shape;287;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8" name="Google Shape;288;p28"/>
          <p:cNvSpPr txBox="1"/>
          <p:nvPr/>
        </p:nvSpPr>
        <p:spPr>
          <a:xfrm>
            <a:off x="647700" y="1776457"/>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ETS</a:t>
            </a:r>
            <a:r>
              <a:rPr b="1" i="0" lang="en-US" sz="1404" u="none" cap="none" strike="noStrike">
                <a:solidFill>
                  <a:srgbClr val="064E3B"/>
                </a:solidFill>
                <a:latin typeface="Montserrat"/>
                <a:ea typeface="Montserrat"/>
                <a:cs typeface="Montserrat"/>
                <a:sym typeface="Montserrat"/>
              </a:rPr>
              <a:t> Forecasting</a:t>
            </a:r>
            <a:endParaRPr/>
          </a:p>
        </p:txBody>
      </p:sp>
      <p:sp>
        <p:nvSpPr>
          <p:cNvPr id="289" name="Google Shape;289;p28"/>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Predictive Analysis: Advanced modelling </a:t>
            </a:r>
            <a:endParaRPr/>
          </a:p>
        </p:txBody>
      </p:sp>
      <p:sp>
        <p:nvSpPr>
          <p:cNvPr id="290" name="Google Shape;290;p28"/>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8"/>
          <p:cNvSpPr txBox="1"/>
          <p:nvPr/>
        </p:nvSpPr>
        <p:spPr>
          <a:xfrm>
            <a:off x="571500" y="2191611"/>
            <a:ext cx="4329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Inter"/>
                <a:ea typeface="Inter"/>
                <a:cs typeface="Inter"/>
                <a:sym typeface="Inter"/>
              </a:rPr>
              <a:t>Focuses on the structural decomposition of the time series</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rPr lang="en-US" sz="1200">
                <a:latin typeface="Inter"/>
                <a:ea typeface="Inter"/>
                <a:cs typeface="Inter"/>
                <a:sym typeface="Inter"/>
              </a:rPr>
              <a:t>Explicitly models repeating cycles</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rPr lang="en-US" sz="1200">
                <a:latin typeface="Inter"/>
                <a:ea typeface="Inter"/>
                <a:cs typeface="Inter"/>
                <a:sym typeface="Inter"/>
              </a:rPr>
              <a:t>Ideal for with strict seasonal </a:t>
            </a:r>
            <a:r>
              <a:rPr lang="en-US" sz="1200">
                <a:latin typeface="Inter"/>
                <a:ea typeface="Inter"/>
                <a:cs typeface="Inter"/>
                <a:sym typeface="Inter"/>
              </a:rPr>
              <a:t>rhythms</a:t>
            </a:r>
            <a:r>
              <a:rPr lang="en-US" sz="1200">
                <a:latin typeface="Inter"/>
                <a:ea typeface="Inter"/>
                <a:cs typeface="Inter"/>
                <a:sym typeface="Inter"/>
              </a:rPr>
              <a:t> </a:t>
            </a:r>
            <a:endParaRPr sz="1200">
              <a:latin typeface="Inter"/>
              <a:ea typeface="Inter"/>
              <a:cs typeface="Inter"/>
              <a:sym typeface="Inter"/>
            </a:endParaRPr>
          </a:p>
          <a:p>
            <a:pPr indent="0" lvl="0" marL="0" rtl="0" algn="l">
              <a:spcBef>
                <a:spcPts val="0"/>
              </a:spcBef>
              <a:spcAft>
                <a:spcPts val="0"/>
              </a:spcAft>
              <a:buNone/>
            </a:pPr>
            <a:r>
              <a:t/>
            </a:r>
            <a:endParaRPr sz="1200">
              <a:latin typeface="Inter"/>
              <a:ea typeface="Inter"/>
              <a:cs typeface="Inter"/>
              <a:sym typeface="Inter"/>
            </a:endParaRPr>
          </a:p>
          <a:p>
            <a:pPr indent="0" lvl="0" marL="0" rtl="0" algn="l">
              <a:spcBef>
                <a:spcPts val="0"/>
              </a:spcBef>
              <a:spcAft>
                <a:spcPts val="0"/>
              </a:spcAft>
              <a:buNone/>
            </a:pPr>
            <a:r>
              <a:rPr lang="en-US" sz="1200">
                <a:latin typeface="Inter"/>
                <a:ea typeface="Inter"/>
                <a:cs typeface="Inter"/>
                <a:sym typeface="Inter"/>
              </a:rPr>
              <a:t>Provides intuitive state-space forecasting</a:t>
            </a:r>
            <a:endParaRPr sz="1200">
              <a:latin typeface="Inter"/>
              <a:ea typeface="Inter"/>
              <a:cs typeface="Inter"/>
              <a:sym typeface="Inter"/>
            </a:endParaRPr>
          </a:p>
        </p:txBody>
      </p:sp>
      <p:pic>
        <p:nvPicPr>
          <p:cNvPr id="292" name="Google Shape;292;p28"/>
          <p:cNvPicPr preferRelativeResize="0"/>
          <p:nvPr/>
        </p:nvPicPr>
        <p:blipFill>
          <a:blip r:embed="rId4">
            <a:alphaModFix/>
          </a:blip>
          <a:stretch>
            <a:fillRect/>
          </a:stretch>
        </p:blipFill>
        <p:spPr>
          <a:xfrm>
            <a:off x="396750" y="4326407"/>
            <a:ext cx="11581124" cy="1927025"/>
          </a:xfrm>
          <a:prstGeom prst="rect">
            <a:avLst/>
          </a:prstGeom>
          <a:noFill/>
          <a:ln>
            <a:noFill/>
          </a:ln>
        </p:spPr>
      </p:pic>
      <p:sp>
        <p:nvSpPr>
          <p:cNvPr id="293" name="Google Shape;293;p28"/>
          <p:cNvSpPr txBox="1"/>
          <p:nvPr/>
        </p:nvSpPr>
        <p:spPr>
          <a:xfrm>
            <a:off x="485712" y="2281625"/>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94" name="Google Shape;294;p28"/>
          <p:cNvSpPr txBox="1"/>
          <p:nvPr/>
        </p:nvSpPr>
        <p:spPr>
          <a:xfrm>
            <a:off x="486972" y="2830769"/>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95" name="Google Shape;295;p28"/>
          <p:cNvSpPr txBox="1"/>
          <p:nvPr/>
        </p:nvSpPr>
        <p:spPr>
          <a:xfrm>
            <a:off x="488231" y="3209880"/>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296" name="Google Shape;296;p28"/>
          <p:cNvSpPr txBox="1"/>
          <p:nvPr/>
        </p:nvSpPr>
        <p:spPr>
          <a:xfrm>
            <a:off x="489491" y="3570098"/>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pic>
        <p:nvPicPr>
          <p:cNvPr descr="image.png" id="301" name="Google Shape;301;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2" name="Google Shape;302;p29"/>
          <p:cNvSpPr txBox="1"/>
          <p:nvPr/>
        </p:nvSpPr>
        <p:spPr>
          <a:xfrm>
            <a:off x="647700" y="1585800"/>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Summary</a:t>
            </a:r>
            <a:r>
              <a:rPr b="1" lang="en-US" sz="1404">
                <a:solidFill>
                  <a:srgbClr val="064E3B"/>
                </a:solidFill>
                <a:latin typeface="Montserrat"/>
                <a:ea typeface="Montserrat"/>
                <a:cs typeface="Montserrat"/>
                <a:sym typeface="Montserrat"/>
              </a:rPr>
              <a:t> of </a:t>
            </a:r>
            <a:r>
              <a:rPr b="1" lang="en-US" sz="1404">
                <a:solidFill>
                  <a:srgbClr val="064E3B"/>
                </a:solidFill>
                <a:latin typeface="Montserrat"/>
                <a:ea typeface="Montserrat"/>
                <a:cs typeface="Montserrat"/>
                <a:sym typeface="Montserrat"/>
              </a:rPr>
              <a:t>statistics</a:t>
            </a:r>
            <a:r>
              <a:rPr b="1" lang="en-US" sz="1404">
                <a:solidFill>
                  <a:srgbClr val="064E3B"/>
                </a:solidFill>
                <a:latin typeface="Montserrat"/>
                <a:ea typeface="Montserrat"/>
                <a:cs typeface="Montserrat"/>
                <a:sym typeface="Montserrat"/>
              </a:rPr>
              <a:t> (NO2)</a:t>
            </a:r>
            <a:endParaRPr/>
          </a:p>
        </p:txBody>
      </p:sp>
      <p:sp>
        <p:nvSpPr>
          <p:cNvPr id="303" name="Google Shape;303;p29"/>
          <p:cNvSpPr txBox="1"/>
          <p:nvPr/>
        </p:nvSpPr>
        <p:spPr>
          <a:xfrm>
            <a:off x="571500" y="2655500"/>
            <a:ext cx="52863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We used an </a:t>
            </a:r>
            <a:r>
              <a:rPr i="0" lang="en-US" sz="1200" u="none" cap="none" strike="noStrike">
                <a:solidFill>
                  <a:srgbClr val="000000"/>
                </a:solidFill>
                <a:latin typeface="Inter"/>
                <a:ea typeface="Inter"/>
                <a:cs typeface="Inter"/>
                <a:sym typeface="Inter"/>
              </a:rPr>
              <a:t>80/20 Train-Test split.</a:t>
            </a:r>
            <a:endParaRPr/>
          </a:p>
        </p:txBody>
      </p:sp>
      <p:sp>
        <p:nvSpPr>
          <p:cNvPr id="304" name="Google Shape;304;p29"/>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a:t>
            </a:r>
            <a:r>
              <a:rPr b="1" lang="en-US" sz="3300">
                <a:solidFill>
                  <a:srgbClr val="064E3B"/>
                </a:solidFill>
                <a:latin typeface="Montserrat"/>
                <a:ea typeface="Montserrat"/>
                <a:cs typeface="Montserrat"/>
                <a:sym typeface="Montserrat"/>
              </a:rPr>
              <a:t>Model Performance Comparison (Test Set)</a:t>
            </a:r>
            <a:endParaRPr/>
          </a:p>
        </p:txBody>
      </p:sp>
      <p:sp>
        <p:nvSpPr>
          <p:cNvPr id="305" name="Google Shape;305;p29"/>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06" name="Google Shape;306;p29"/>
          <p:cNvGraphicFramePr/>
          <p:nvPr/>
        </p:nvGraphicFramePr>
        <p:xfrm>
          <a:off x="880675" y="4416400"/>
          <a:ext cx="3000000" cy="3000000"/>
        </p:xfrm>
        <a:graphic>
          <a:graphicData uri="http://schemas.openxmlformats.org/drawingml/2006/table">
            <a:tbl>
              <a:tblPr>
                <a:noFill/>
                <a:tableStyleId>{094B5744-7F93-483D-B127-374285DE8091}</a:tableStyleId>
              </a:tblPr>
              <a:tblGrid>
                <a:gridCol w="2571750"/>
                <a:gridCol w="2571750"/>
                <a:gridCol w="2571750"/>
                <a:gridCol w="2571750"/>
              </a:tblGrid>
              <a:tr h="381000">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Model Name</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RMSE</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MAE</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MAPE (%)</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Naive </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12.562</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9.904</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33.204</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Seasonal Naive </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13.512</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10.346</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31.003</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solidFill>
                            <a:schemeClr val="lt1"/>
                          </a:solidFill>
                          <a:latin typeface="Inter"/>
                          <a:ea typeface="Inter"/>
                          <a:cs typeface="Inter"/>
                          <a:sym typeface="Inter"/>
                        </a:rPr>
                        <a:t>ARIMA (Top Performance)</a:t>
                      </a:r>
                      <a:endParaRPr>
                        <a:solidFill>
                          <a:schemeClr val="lt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64E3B"/>
                    </a:solidFill>
                  </a:tcPr>
                </a:tc>
                <a:tc>
                  <a:txBody>
                    <a:bodyPr/>
                    <a:lstStyle/>
                    <a:p>
                      <a:pPr indent="0" lvl="0" marL="0" rtl="0" algn="l">
                        <a:spcBef>
                          <a:spcPts val="0"/>
                        </a:spcBef>
                        <a:spcAft>
                          <a:spcPts val="0"/>
                        </a:spcAft>
                        <a:buNone/>
                      </a:pPr>
                      <a:r>
                        <a:rPr lang="en-US">
                          <a:solidFill>
                            <a:schemeClr val="lt1"/>
                          </a:solidFill>
                          <a:latin typeface="Inter"/>
                          <a:ea typeface="Inter"/>
                          <a:cs typeface="Inter"/>
                          <a:sym typeface="Inter"/>
                        </a:rPr>
                        <a:t>10.925</a:t>
                      </a:r>
                      <a:endParaRPr>
                        <a:solidFill>
                          <a:schemeClr val="lt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64E3B"/>
                    </a:solidFill>
                  </a:tcPr>
                </a:tc>
                <a:tc>
                  <a:txBody>
                    <a:bodyPr/>
                    <a:lstStyle/>
                    <a:p>
                      <a:pPr indent="0" lvl="0" marL="0" rtl="0" algn="l">
                        <a:spcBef>
                          <a:spcPts val="0"/>
                        </a:spcBef>
                        <a:spcAft>
                          <a:spcPts val="0"/>
                        </a:spcAft>
                        <a:buNone/>
                      </a:pPr>
                      <a:r>
                        <a:rPr lang="en-US">
                          <a:solidFill>
                            <a:schemeClr val="lt1"/>
                          </a:solidFill>
                          <a:latin typeface="Inter"/>
                          <a:ea typeface="Inter"/>
                          <a:cs typeface="Inter"/>
                          <a:sym typeface="Inter"/>
                        </a:rPr>
                        <a:t>8.345</a:t>
                      </a:r>
                      <a:endParaRPr>
                        <a:solidFill>
                          <a:schemeClr val="lt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64E3B"/>
                    </a:solidFill>
                  </a:tcPr>
                </a:tc>
                <a:tc>
                  <a:txBody>
                    <a:bodyPr/>
                    <a:lstStyle/>
                    <a:p>
                      <a:pPr indent="0" lvl="0" marL="0" rtl="0" algn="l">
                        <a:spcBef>
                          <a:spcPts val="0"/>
                        </a:spcBef>
                        <a:spcAft>
                          <a:spcPts val="0"/>
                        </a:spcAft>
                        <a:buNone/>
                      </a:pPr>
                      <a:r>
                        <a:rPr lang="en-US">
                          <a:solidFill>
                            <a:schemeClr val="lt1"/>
                          </a:solidFill>
                          <a:latin typeface="Inter"/>
                          <a:ea typeface="Inter"/>
                          <a:cs typeface="Inter"/>
                          <a:sym typeface="Inter"/>
                        </a:rPr>
                        <a:t>27.81</a:t>
                      </a:r>
                      <a:endParaRPr>
                        <a:solidFill>
                          <a:schemeClr val="lt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64E3B"/>
                    </a:solidFill>
                  </a:tcPr>
                </a:tc>
              </a:tr>
              <a:tr h="381000">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ETS</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12.01</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9.347</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solidFill>
                            <a:srgbClr val="064E3B"/>
                          </a:solidFill>
                          <a:latin typeface="Inter"/>
                          <a:ea typeface="Inter"/>
                          <a:cs typeface="Inter"/>
                          <a:sym typeface="Inter"/>
                        </a:rPr>
                        <a:t>31.375</a:t>
                      </a:r>
                      <a:endParaRPr>
                        <a:solidFill>
                          <a:srgbClr val="064E3B"/>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307" name="Google Shape;307;p29"/>
          <p:cNvSpPr txBox="1"/>
          <p:nvPr/>
        </p:nvSpPr>
        <p:spPr>
          <a:xfrm>
            <a:off x="571500" y="3116092"/>
            <a:ext cx="5286300" cy="923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Metrics like </a:t>
            </a:r>
            <a:r>
              <a:rPr i="0" lang="en-US" sz="1200" u="none" cap="none" strike="noStrike">
                <a:solidFill>
                  <a:srgbClr val="000000"/>
                </a:solidFill>
                <a:latin typeface="Inter"/>
                <a:ea typeface="Inter"/>
                <a:cs typeface="Inter"/>
                <a:sym typeface="Inter"/>
              </a:rPr>
              <a:t>MAPE </a:t>
            </a:r>
            <a:r>
              <a:rPr b="0" i="0" lang="en-US" sz="1200" u="none" cap="none" strike="noStrike">
                <a:solidFill>
                  <a:srgbClr val="000000"/>
                </a:solidFill>
                <a:latin typeface="Inter"/>
                <a:ea typeface="Inter"/>
                <a:cs typeface="Inter"/>
                <a:sym typeface="Inter"/>
              </a:rPr>
              <a:t>(Mean Absolute Percentage Error) allow us to compare model performance across different pollutants.</a:t>
            </a:r>
            <a:endParaRPr b="0" i="0" sz="1200" u="none" cap="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sz="1200">
              <a:latin typeface="Inter"/>
              <a:ea typeface="Inter"/>
              <a:cs typeface="Inter"/>
              <a:sym typeface="Inter"/>
            </a:endParaRPr>
          </a:p>
          <a:p>
            <a:pPr indent="0" lvl="0" marL="0" marR="0" rtl="0" algn="l">
              <a:spcBef>
                <a:spcPts val="0"/>
              </a:spcBef>
              <a:spcAft>
                <a:spcPts val="0"/>
              </a:spcAft>
              <a:buNone/>
            </a:pPr>
            <a:r>
              <a:rPr lang="en-US" sz="1200">
                <a:solidFill>
                  <a:srgbClr val="212529"/>
                </a:solidFill>
                <a:highlight>
                  <a:srgbClr val="FFFFFF"/>
                </a:highlight>
                <a:latin typeface="Inter"/>
                <a:ea typeface="Inter"/>
                <a:cs typeface="Inter"/>
                <a:sym typeface="Inter"/>
              </a:rPr>
              <a:t>Lower RMSE, MAE and MAPE values indicate better forecasting performance.</a:t>
            </a:r>
            <a:endParaRPr sz="1200">
              <a:latin typeface="Inter"/>
              <a:ea typeface="Inter"/>
              <a:cs typeface="Inter"/>
              <a:sym typeface="Inter"/>
            </a:endParaRPr>
          </a:p>
        </p:txBody>
      </p:sp>
      <p:pic>
        <p:nvPicPr>
          <p:cNvPr id="308" name="Google Shape;308;p29"/>
          <p:cNvPicPr preferRelativeResize="0"/>
          <p:nvPr/>
        </p:nvPicPr>
        <p:blipFill>
          <a:blip r:embed="rId4">
            <a:alphaModFix/>
          </a:blip>
          <a:stretch>
            <a:fillRect/>
          </a:stretch>
        </p:blipFill>
        <p:spPr>
          <a:xfrm>
            <a:off x="4195100" y="1829750"/>
            <a:ext cx="7332126" cy="923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pic>
        <p:nvPicPr>
          <p:cNvPr descr="image.png" id="313" name="Google Shape;31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4" name="Google Shape;314;p30"/>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Validating Robustness: Train v</a:t>
            </a:r>
            <a:r>
              <a:rPr b="1" lang="en-US" sz="3300">
                <a:solidFill>
                  <a:srgbClr val="064E3B"/>
                </a:solidFill>
                <a:latin typeface="Montserrat"/>
                <a:ea typeface="Montserrat"/>
                <a:cs typeface="Montserrat"/>
                <a:sym typeface="Montserrat"/>
              </a:rPr>
              <a:t>s. Test</a:t>
            </a:r>
            <a:endParaRPr/>
          </a:p>
        </p:txBody>
      </p:sp>
      <p:sp>
        <p:nvSpPr>
          <p:cNvPr id="315" name="Google Shape;315;p30"/>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30"/>
          <p:cNvSpPr txBox="1"/>
          <p:nvPr/>
        </p:nvSpPr>
        <p:spPr>
          <a:xfrm>
            <a:off x="571500" y="3680021"/>
            <a:ext cx="5286300" cy="738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latin typeface="Inter"/>
                <a:ea typeface="Inter"/>
                <a:cs typeface="Inter"/>
                <a:sym typeface="Inter"/>
              </a:rPr>
              <a:t>The consistent performance across both sets with Test error (RMSE: 10.9) slightly outperforming Training error (RMSE: 11.6) confirms that the model successfully captured the scope  of the data without being misled by localized noise or outliers in the training phase.</a:t>
            </a:r>
            <a:endParaRPr/>
          </a:p>
        </p:txBody>
      </p:sp>
      <p:sp>
        <p:nvSpPr>
          <p:cNvPr id="317" name="Google Shape;317;p30"/>
          <p:cNvSpPr txBox="1"/>
          <p:nvPr/>
        </p:nvSpPr>
        <p:spPr>
          <a:xfrm>
            <a:off x="463775" y="2658981"/>
            <a:ext cx="5137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Inter"/>
                <a:ea typeface="Inter"/>
                <a:cs typeface="Inter"/>
                <a:sym typeface="Inter"/>
              </a:rPr>
              <a:t>We compare performance on the Training Set (known data) vs. the Test Set (unseen data) to identify overfitting.</a:t>
            </a:r>
            <a:endParaRPr sz="1200">
              <a:latin typeface="Inter"/>
              <a:ea typeface="Inter"/>
              <a:cs typeface="Inter"/>
              <a:sym typeface="Inter"/>
            </a:endParaRPr>
          </a:p>
        </p:txBody>
      </p:sp>
      <p:sp>
        <p:nvSpPr>
          <p:cNvPr id="318" name="Google Shape;318;p30"/>
          <p:cNvSpPr txBox="1"/>
          <p:nvPr/>
        </p:nvSpPr>
        <p:spPr>
          <a:xfrm>
            <a:off x="301060" y="2738934"/>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319" name="Google Shape;319;p30"/>
          <p:cNvSpPr txBox="1"/>
          <p:nvPr/>
        </p:nvSpPr>
        <p:spPr>
          <a:xfrm>
            <a:off x="309837" y="3667066"/>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320" name="Google Shape;320;p30"/>
          <p:cNvSpPr txBox="1"/>
          <p:nvPr/>
        </p:nvSpPr>
        <p:spPr>
          <a:xfrm>
            <a:off x="463775" y="4999242"/>
            <a:ext cx="5394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Inter"/>
                <a:ea typeface="Inter"/>
                <a:cs typeface="Inter"/>
                <a:sym typeface="Inter"/>
              </a:rPr>
              <a:t>The metrics show a consistent and narrow gap, confirming that the ARIMA model has high generalization capacity for London Marylebone Road.</a:t>
            </a:r>
            <a:endParaRPr sz="1200">
              <a:latin typeface="Inter"/>
              <a:ea typeface="Inter"/>
              <a:cs typeface="Inter"/>
              <a:sym typeface="Inter"/>
            </a:endParaRPr>
          </a:p>
        </p:txBody>
      </p:sp>
      <p:sp>
        <p:nvSpPr>
          <p:cNvPr id="321" name="Google Shape;321;p30"/>
          <p:cNvSpPr txBox="1"/>
          <p:nvPr/>
        </p:nvSpPr>
        <p:spPr>
          <a:xfrm>
            <a:off x="350637" y="5051229"/>
            <a:ext cx="8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graphicFrame>
        <p:nvGraphicFramePr>
          <p:cNvPr id="322" name="Google Shape;322;p30"/>
          <p:cNvGraphicFramePr/>
          <p:nvPr/>
        </p:nvGraphicFramePr>
        <p:xfrm>
          <a:off x="6442000" y="2738925"/>
          <a:ext cx="3000000" cy="3000000"/>
        </p:xfrm>
        <a:graphic>
          <a:graphicData uri="http://schemas.openxmlformats.org/drawingml/2006/table">
            <a:tbl>
              <a:tblPr>
                <a:noFill/>
                <a:tableStyleId>{094B5744-7F93-483D-B127-374285DE8091}</a:tableStyleId>
              </a:tblPr>
              <a:tblGrid>
                <a:gridCol w="1348500"/>
                <a:gridCol w="1348500"/>
                <a:gridCol w="1348500"/>
                <a:gridCol w="1348500"/>
              </a:tblGrid>
              <a:tr h="569475">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Dataset</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RMSE</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MAE</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MAPE (%)</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r>
              <a:tr h="547625">
                <a:tc>
                  <a:txBody>
                    <a:bodyPr/>
                    <a:lstStyle/>
                    <a:p>
                      <a:pPr indent="0" lvl="0" marL="0" rtl="0" algn="l">
                        <a:spcBef>
                          <a:spcPts val="0"/>
                        </a:spcBef>
                        <a:spcAft>
                          <a:spcPts val="0"/>
                        </a:spcAft>
                        <a:buNone/>
                      </a:pPr>
                      <a:r>
                        <a:rPr lang="en-US">
                          <a:latin typeface="Inter"/>
                          <a:ea typeface="Inter"/>
                          <a:cs typeface="Inter"/>
                          <a:sym typeface="Inter"/>
                        </a:rPr>
                        <a:t>Training Set</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10.194</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8.097</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21.123</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r>
              <a:tr h="547625">
                <a:tc>
                  <a:txBody>
                    <a:bodyPr/>
                    <a:lstStyle/>
                    <a:p>
                      <a:pPr indent="0" lvl="0" marL="0" rtl="0" algn="l">
                        <a:spcBef>
                          <a:spcPts val="0"/>
                        </a:spcBef>
                        <a:spcAft>
                          <a:spcPts val="0"/>
                        </a:spcAft>
                        <a:buNone/>
                      </a:pPr>
                      <a:r>
                        <a:rPr lang="en-US">
                          <a:latin typeface="Inter"/>
                          <a:ea typeface="Inter"/>
                          <a:cs typeface="Inter"/>
                          <a:sym typeface="Inter"/>
                        </a:rPr>
                        <a:t>Test Set</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10.925</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8.345</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27.81</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r>
            </a:tbl>
          </a:graphicData>
        </a:graphic>
      </p:graphicFrame>
      <p:sp>
        <p:nvSpPr>
          <p:cNvPr id="323" name="Google Shape;323;p30"/>
          <p:cNvSpPr txBox="1"/>
          <p:nvPr/>
        </p:nvSpPr>
        <p:spPr>
          <a:xfrm>
            <a:off x="7028025" y="4779825"/>
            <a:ext cx="4326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Inter"/>
                <a:ea typeface="Inter"/>
                <a:cs typeface="Inter"/>
                <a:sym typeface="Inter"/>
              </a:rPr>
              <a:t>Training error was slightly lower than Test error. This is the standard outcome, indicating the model learned the training patterns effectively, with a slight, expected loss of accuracy on unseen data </a:t>
            </a:r>
            <a:endParaRPr sz="1200">
              <a:latin typeface="Inter"/>
              <a:ea typeface="Inter"/>
              <a:cs typeface="Inter"/>
              <a:sym typeface="Inter"/>
            </a:endParaRPr>
          </a:p>
        </p:txBody>
      </p:sp>
      <p:sp>
        <p:nvSpPr>
          <p:cNvPr id="324" name="Google Shape;324;p30"/>
          <p:cNvSpPr txBox="1"/>
          <p:nvPr/>
        </p:nvSpPr>
        <p:spPr>
          <a:xfrm>
            <a:off x="647700" y="2001441"/>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Train vs. Test</a:t>
            </a:r>
            <a:r>
              <a:rPr b="1" lang="en-US" sz="1404">
                <a:solidFill>
                  <a:srgbClr val="064E3B"/>
                </a:solidFill>
                <a:latin typeface="Montserrat"/>
                <a:ea typeface="Montserrat"/>
                <a:cs typeface="Montserrat"/>
                <a:sym typeface="Montserrat"/>
              </a:rPr>
              <a:t> (NO2)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pic>
        <p:nvPicPr>
          <p:cNvPr descr="image.png" id="329" name="Google Shape;329;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0" name="Google Shape;330;p31"/>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 Validating Robustness: Train v</a:t>
            </a:r>
            <a:r>
              <a:rPr b="1" lang="en-US" sz="3300">
                <a:solidFill>
                  <a:srgbClr val="064E3B"/>
                </a:solidFill>
                <a:latin typeface="Montserrat"/>
                <a:ea typeface="Montserrat"/>
                <a:cs typeface="Montserrat"/>
                <a:sym typeface="Montserrat"/>
              </a:rPr>
              <a:t>s. Test</a:t>
            </a:r>
            <a:endParaRPr/>
          </a:p>
        </p:txBody>
      </p:sp>
      <p:sp>
        <p:nvSpPr>
          <p:cNvPr id="331" name="Google Shape;331;p31"/>
          <p:cNvSpPr/>
          <p:nvPr/>
        </p:nvSpPr>
        <p:spPr>
          <a:xfrm>
            <a:off x="571500" y="571500"/>
            <a:ext cx="76200" cy="51450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31"/>
          <p:cNvSpPr txBox="1"/>
          <p:nvPr/>
        </p:nvSpPr>
        <p:spPr>
          <a:xfrm>
            <a:off x="590393" y="4511294"/>
            <a:ext cx="52863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latin typeface="Inter"/>
                <a:ea typeface="Inter"/>
                <a:cs typeface="Inter"/>
                <a:sym typeface="Inter"/>
              </a:rPr>
              <a:t>The Test set outperformed the Training set. This suggests that the test period was characterized by more stable, consistent weather patterns compared to the higher volatility observed in the training period. </a:t>
            </a:r>
            <a:endParaRPr/>
          </a:p>
        </p:txBody>
      </p:sp>
      <p:sp>
        <p:nvSpPr>
          <p:cNvPr id="333" name="Google Shape;333;p31"/>
          <p:cNvSpPr txBox="1"/>
          <p:nvPr/>
        </p:nvSpPr>
        <p:spPr>
          <a:xfrm>
            <a:off x="536543" y="5475324"/>
            <a:ext cx="5394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rgbClr val="064E3B"/>
                </a:solidFill>
                <a:latin typeface="Inter"/>
                <a:ea typeface="Inter"/>
                <a:cs typeface="Inter"/>
                <a:sym typeface="Inter"/>
              </a:rPr>
              <a:t>Robustness Conclusion</a:t>
            </a:r>
            <a:r>
              <a:rPr b="1" lang="en-US" sz="1200">
                <a:solidFill>
                  <a:schemeClr val="dk1"/>
                </a:solidFill>
                <a:latin typeface="Inter"/>
                <a:ea typeface="Inter"/>
                <a:cs typeface="Inter"/>
                <a:sym typeface="Inter"/>
              </a:rPr>
              <a:t>:</a:t>
            </a:r>
            <a:r>
              <a:rPr lang="en-US" sz="1200">
                <a:solidFill>
                  <a:schemeClr val="dk1"/>
                </a:solidFill>
                <a:latin typeface="Inter"/>
                <a:ea typeface="Inter"/>
                <a:cs typeface="Inter"/>
                <a:sym typeface="Inter"/>
              </a:rPr>
              <a:t> The narrow variance between Training and Test metrics across both pollutants confirms that our models have</a:t>
            </a:r>
            <a:r>
              <a:rPr b="1" lang="en-US" sz="1200">
                <a:solidFill>
                  <a:schemeClr val="dk1"/>
                </a:solidFill>
                <a:latin typeface="Inter"/>
                <a:ea typeface="Inter"/>
                <a:cs typeface="Inter"/>
                <a:sym typeface="Inter"/>
              </a:rPr>
              <a:t> </a:t>
            </a:r>
            <a:r>
              <a:rPr lang="en-US" sz="1200">
                <a:solidFill>
                  <a:schemeClr val="dk1"/>
                </a:solidFill>
                <a:latin typeface="Inter"/>
                <a:ea typeface="Inter"/>
                <a:cs typeface="Inter"/>
                <a:sym typeface="Inter"/>
              </a:rPr>
              <a:t>not overfitted to the training data. The model remains stable and reliable when applied to new, unseen time periods. </a:t>
            </a:r>
            <a:endParaRPr sz="1200">
              <a:latin typeface="Inter"/>
              <a:ea typeface="Inter"/>
              <a:cs typeface="Inter"/>
              <a:sym typeface="Inter"/>
            </a:endParaRPr>
          </a:p>
        </p:txBody>
      </p:sp>
      <p:graphicFrame>
        <p:nvGraphicFramePr>
          <p:cNvPr id="334" name="Google Shape;334;p31"/>
          <p:cNvGraphicFramePr/>
          <p:nvPr/>
        </p:nvGraphicFramePr>
        <p:xfrm>
          <a:off x="736446" y="2436644"/>
          <a:ext cx="3000000" cy="3000000"/>
        </p:xfrm>
        <a:graphic>
          <a:graphicData uri="http://schemas.openxmlformats.org/drawingml/2006/table">
            <a:tbl>
              <a:tblPr>
                <a:noFill/>
                <a:tableStyleId>{094B5744-7F93-483D-B127-374285DE8091}</a:tableStyleId>
              </a:tblPr>
              <a:tblGrid>
                <a:gridCol w="1348500"/>
                <a:gridCol w="1348500"/>
                <a:gridCol w="1348500"/>
                <a:gridCol w="1348500"/>
              </a:tblGrid>
              <a:tr h="569475">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Dataset</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RMSE</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MAE</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b="1" lang="en-US">
                          <a:solidFill>
                            <a:srgbClr val="064E3B"/>
                          </a:solidFill>
                          <a:latin typeface="Inter"/>
                          <a:ea typeface="Inter"/>
                          <a:cs typeface="Inter"/>
                          <a:sym typeface="Inter"/>
                        </a:rPr>
                        <a:t>MAPE (%)</a:t>
                      </a:r>
                      <a:endParaRPr b="1">
                        <a:solidFill>
                          <a:srgbClr val="064E3B"/>
                        </a:solidFill>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r>
              <a:tr h="547625">
                <a:tc>
                  <a:txBody>
                    <a:bodyPr/>
                    <a:lstStyle/>
                    <a:p>
                      <a:pPr indent="0" lvl="0" marL="0" rtl="0" algn="l">
                        <a:spcBef>
                          <a:spcPts val="0"/>
                        </a:spcBef>
                        <a:spcAft>
                          <a:spcPts val="0"/>
                        </a:spcAft>
                        <a:buNone/>
                      </a:pPr>
                      <a:r>
                        <a:rPr lang="en-US">
                          <a:latin typeface="Inter"/>
                          <a:ea typeface="Inter"/>
                          <a:cs typeface="Inter"/>
                          <a:sym typeface="Inter"/>
                        </a:rPr>
                        <a:t>Training Set</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2.257</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1.366</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132.537</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r>
              <a:tr h="547625">
                <a:tc>
                  <a:txBody>
                    <a:bodyPr/>
                    <a:lstStyle/>
                    <a:p>
                      <a:pPr indent="0" lvl="0" marL="0" rtl="0" algn="l">
                        <a:spcBef>
                          <a:spcPts val="0"/>
                        </a:spcBef>
                        <a:spcAft>
                          <a:spcPts val="0"/>
                        </a:spcAft>
                        <a:buNone/>
                      </a:pPr>
                      <a:r>
                        <a:rPr lang="en-US">
                          <a:latin typeface="Inter"/>
                          <a:ea typeface="Inter"/>
                          <a:cs typeface="Inter"/>
                          <a:sym typeface="Inter"/>
                        </a:rPr>
                        <a:t>Test Set</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1.893</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1.497</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Inter"/>
                          <a:ea typeface="Inter"/>
                          <a:cs typeface="Inter"/>
                          <a:sym typeface="Inter"/>
                        </a:rPr>
                        <a:t>16.829</a:t>
                      </a:r>
                      <a:endParaRPr>
                        <a:latin typeface="Inter"/>
                        <a:ea typeface="Inter"/>
                        <a:cs typeface="Inter"/>
                        <a:sym typeface="Inter"/>
                      </a:endParaRPr>
                    </a:p>
                  </a:txBody>
                  <a:tcPr marT="91425" marB="91425" marR="91425" marL="91425">
                    <a:lnL cap="flat" cmpd="sng" w="9525">
                      <a:solidFill>
                        <a:srgbClr val="064E3B"/>
                      </a:solidFill>
                      <a:prstDash val="solid"/>
                      <a:round/>
                      <a:headEnd len="sm" w="sm" type="none"/>
                      <a:tailEnd len="sm" w="sm" type="none"/>
                    </a:lnL>
                    <a:lnR cap="flat" cmpd="sng" w="9525">
                      <a:solidFill>
                        <a:srgbClr val="064E3B"/>
                      </a:solidFill>
                      <a:prstDash val="solid"/>
                      <a:round/>
                      <a:headEnd len="sm" w="sm" type="none"/>
                      <a:tailEnd len="sm" w="sm" type="none"/>
                    </a:lnR>
                    <a:lnT cap="flat" cmpd="sng" w="9525">
                      <a:solidFill>
                        <a:srgbClr val="064E3B"/>
                      </a:solidFill>
                      <a:prstDash val="solid"/>
                      <a:round/>
                      <a:headEnd len="sm" w="sm" type="none"/>
                      <a:tailEnd len="sm" w="sm" type="none"/>
                    </a:lnT>
                    <a:lnB cap="flat" cmpd="sng" w="9525">
                      <a:solidFill>
                        <a:srgbClr val="064E3B"/>
                      </a:solidFill>
                      <a:prstDash val="solid"/>
                      <a:round/>
                      <a:headEnd len="sm" w="sm" type="none"/>
                      <a:tailEnd len="sm" w="sm" type="none"/>
                    </a:lnB>
                  </a:tcPr>
                </a:tc>
              </a:tr>
            </a:tbl>
          </a:graphicData>
        </a:graphic>
      </p:graphicFrame>
      <p:sp>
        <p:nvSpPr>
          <p:cNvPr id="335" name="Google Shape;335;p31"/>
          <p:cNvSpPr txBox="1"/>
          <p:nvPr/>
        </p:nvSpPr>
        <p:spPr>
          <a:xfrm>
            <a:off x="647700" y="1661375"/>
            <a:ext cx="5550600" cy="21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4">
                <a:solidFill>
                  <a:srgbClr val="064E3B"/>
                </a:solidFill>
                <a:latin typeface="Montserrat"/>
                <a:ea typeface="Montserrat"/>
                <a:cs typeface="Montserrat"/>
                <a:sym typeface="Montserrat"/>
              </a:rPr>
              <a:t>Train vs. Test (Air Temperature)</a:t>
            </a:r>
            <a:endParaRPr/>
          </a:p>
        </p:txBody>
      </p:sp>
      <p:pic>
        <p:nvPicPr>
          <p:cNvPr id="336" name="Google Shape;336;p31"/>
          <p:cNvPicPr preferRelativeResize="0"/>
          <p:nvPr/>
        </p:nvPicPr>
        <p:blipFill>
          <a:blip r:embed="rId4">
            <a:alphaModFix/>
          </a:blip>
          <a:stretch>
            <a:fillRect/>
          </a:stretch>
        </p:blipFill>
        <p:spPr>
          <a:xfrm>
            <a:off x="7340225" y="1877376"/>
            <a:ext cx="4299900" cy="2978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pic>
        <p:nvPicPr>
          <p:cNvPr descr="image.png" id="341" name="Google Shape;341;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2" name="Google Shape;342;p32"/>
          <p:cNvPicPr preferRelativeResize="0"/>
          <p:nvPr/>
        </p:nvPicPr>
        <p:blipFill rotWithShape="1">
          <a:blip r:embed="rId4">
            <a:alphaModFix/>
          </a:blip>
          <a:srcRect b="0" l="0" r="0" t="0"/>
          <a:stretch/>
        </p:blipFill>
        <p:spPr>
          <a:xfrm>
            <a:off x="571500" y="2600325"/>
            <a:ext cx="11049000" cy="2552700"/>
          </a:xfrm>
          <a:prstGeom prst="rect">
            <a:avLst/>
          </a:prstGeom>
          <a:noFill/>
          <a:ln>
            <a:noFill/>
          </a:ln>
        </p:spPr>
      </p:pic>
      <p:sp>
        <p:nvSpPr>
          <p:cNvPr id="343" name="Google Shape;343;p32"/>
          <p:cNvSpPr txBox="1"/>
          <p:nvPr/>
        </p:nvSpPr>
        <p:spPr>
          <a:xfrm>
            <a:off x="819150" y="3114675"/>
            <a:ext cx="10553700"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00000"/>
                </a:solidFill>
                <a:latin typeface="Inter"/>
                <a:ea typeface="Inter"/>
                <a:cs typeface="Inter"/>
                <a:sym typeface="Inter"/>
              </a:rPr>
              <a:t>Our Shiny app successfully transforms raw air quality data into a teaching tool for time-series forecasting.</a:t>
            </a:r>
            <a:endParaRPr/>
          </a:p>
        </p:txBody>
      </p:sp>
      <p:sp>
        <p:nvSpPr>
          <p:cNvPr id="344" name="Google Shape;344;p32"/>
          <p:cNvSpPr txBox="1"/>
          <p:nvPr/>
        </p:nvSpPr>
        <p:spPr>
          <a:xfrm>
            <a:off x="4129087" y="4162425"/>
            <a:ext cx="8572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345" name="Google Shape;345;p32"/>
          <p:cNvSpPr txBox="1"/>
          <p:nvPr/>
        </p:nvSpPr>
        <p:spPr>
          <a:xfrm>
            <a:off x="4214798" y="4187175"/>
            <a:ext cx="46647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Implemented advanced forecasting via </a:t>
            </a:r>
            <a:r>
              <a:rPr b="0" i="1" lang="en-US" sz="1200" u="none" cap="none" strike="noStrike">
                <a:solidFill>
                  <a:srgbClr val="000000"/>
                </a:solidFill>
                <a:latin typeface="Inter"/>
                <a:ea typeface="Inter"/>
                <a:cs typeface="Inter"/>
                <a:sym typeface="Inter"/>
              </a:rPr>
              <a:t>forecast</a:t>
            </a:r>
            <a:r>
              <a:rPr b="0" i="0" lang="en-US" sz="1200" u="none" cap="none" strike="noStrike">
                <a:solidFill>
                  <a:srgbClr val="000000"/>
                </a:solidFill>
                <a:latin typeface="Inter"/>
                <a:ea typeface="Inter"/>
                <a:cs typeface="Inter"/>
                <a:sym typeface="Inter"/>
              </a:rPr>
              <a:t> package.</a:t>
            </a:r>
            <a:endParaRPr/>
          </a:p>
        </p:txBody>
      </p:sp>
      <p:sp>
        <p:nvSpPr>
          <p:cNvPr id="346" name="Google Shape;346;p32"/>
          <p:cNvSpPr txBox="1"/>
          <p:nvPr/>
        </p:nvSpPr>
        <p:spPr>
          <a:xfrm>
            <a:off x="4129087" y="4352925"/>
            <a:ext cx="8572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347" name="Google Shape;347;p32"/>
          <p:cNvSpPr txBox="1"/>
          <p:nvPr/>
        </p:nvSpPr>
        <p:spPr>
          <a:xfrm>
            <a:off x="4214850" y="4355775"/>
            <a:ext cx="4143300" cy="1848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Optimized data pipeline for real-time interactivity.</a:t>
            </a:r>
            <a:endParaRPr/>
          </a:p>
        </p:txBody>
      </p:sp>
      <p:sp>
        <p:nvSpPr>
          <p:cNvPr id="348" name="Google Shape;348;p32"/>
          <p:cNvSpPr txBox="1"/>
          <p:nvPr/>
        </p:nvSpPr>
        <p:spPr>
          <a:xfrm>
            <a:off x="4129087" y="4543425"/>
            <a:ext cx="8572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a:t>
            </a:r>
            <a:endParaRPr/>
          </a:p>
        </p:txBody>
      </p:sp>
      <p:sp>
        <p:nvSpPr>
          <p:cNvPr id="349" name="Google Shape;349;p32"/>
          <p:cNvSpPr txBox="1"/>
          <p:nvPr/>
        </p:nvSpPr>
        <p:spPr>
          <a:xfrm>
            <a:off x="4214812" y="4562475"/>
            <a:ext cx="4143375" cy="190500"/>
          </a:xfrm>
          <a:prstGeom prst="rect">
            <a:avLst/>
          </a:prstGeom>
          <a:noFill/>
          <a:ln>
            <a:noFill/>
          </a:ln>
        </p:spPr>
        <p:txBody>
          <a:bodyPr anchorCtr="0" anchor="t" bIns="0" lIns="85725" spcFirstLastPara="1" rIns="0" wrap="square" tIns="0">
            <a:spAutoFit/>
          </a:bodyPr>
          <a:lstStyle/>
          <a:p>
            <a:pPr indent="0" lvl="0" marL="0" marR="0" rtl="0" algn="l">
              <a:spcBef>
                <a:spcPts val="0"/>
              </a:spcBef>
              <a:spcAft>
                <a:spcPts val="0"/>
              </a:spcAft>
              <a:buNone/>
            </a:pPr>
            <a:r>
              <a:rPr b="0" i="0" lang="en-US" sz="1200" u="none" cap="none" strike="noStrike">
                <a:solidFill>
                  <a:srgbClr val="000000"/>
                </a:solidFill>
                <a:latin typeface="Inter"/>
                <a:ea typeface="Inter"/>
                <a:cs typeface="Inter"/>
                <a:sym typeface="Inter"/>
              </a:rPr>
              <a:t>Validated results through scientific error metrics.</a:t>
            </a:r>
            <a:endParaRPr/>
          </a:p>
        </p:txBody>
      </p:sp>
      <p:sp>
        <p:nvSpPr>
          <p:cNvPr id="350" name="Google Shape;350;p32"/>
          <p:cNvSpPr txBox="1"/>
          <p:nvPr/>
        </p:nvSpPr>
        <p:spPr>
          <a:xfrm>
            <a:off x="762000" y="571500"/>
            <a:ext cx="11401425"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64E3B"/>
                </a:solidFill>
                <a:latin typeface="Montserrat"/>
                <a:ea typeface="Montserrat"/>
                <a:cs typeface="Montserrat"/>
                <a:sym typeface="Montserrat"/>
              </a:rPr>
              <a:t>Conclusion</a:t>
            </a:r>
            <a:endParaRPr/>
          </a:p>
        </p:txBody>
      </p:sp>
      <p:sp>
        <p:nvSpPr>
          <p:cNvPr id="351" name="Google Shape;351;p32"/>
          <p:cNvSpPr/>
          <p:nvPr/>
        </p:nvSpPr>
        <p:spPr>
          <a:xfrm>
            <a:off x="571500" y="571500"/>
            <a:ext cx="76200" cy="514350"/>
          </a:xfrm>
          <a:prstGeom prst="rect">
            <a:avLst/>
          </a:prstGeom>
          <a:solidFill>
            <a:srgbClr val="0596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